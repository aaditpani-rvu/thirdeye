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AADIT: Good evening. I'm Aadit Pani, USN 1RVU23CSE002, and with me are Megh Mavani and Mitul KM. We're working under Prof. Manjul K Gupta. Our project is called Third Eye: Real-Time Detection of Procedural Errors from Video Using LLM-Compiled Rules. The name comes from the idea: a third eye watching over your shoulder while you follow a procedure, which tells you the moment you go wrong rather than after you've finished. Real-time means the alert comes while the mistake is happening. Procedural errors means a missed step, a step done out of order, the wrong part, or a move that breaks a rule. LLM-compiled rules means nobody writes the rules by hand: a language model reads the manual or rulebook and turns it into rules a program can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AADIT: Why does this matter? In lab work, in clinical routines like hand hygiene, and on assembly lines, most mistakes aren't clumsy motions. Someone skips a step or does steps in the wrong order, and usually nobody is watching when it happens. We test this on two everyday procedures. The first is a jigsaw puzzle, which has an ordered method: corners, then edges, then the interior. The second is Jenga, which has no order at all, only rules, like 'never pull from the top complete layer'. If one system handles both, it handles more than one kind of procedure. Megh will now walk you through what already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MEGH: Hi, I'm Megh Mavani, USN 1RVU23CSE260. We surveyed eighteen papers in four groups. I'll cover the first two. Group one is datasets for procedural mistakes. Assembly101 (Sener et al., CVPR 2022) is a multi-view dataset of people assembling and taking apart toy vehicles, with labels for mistakes; it showed mistake detection is a task in its own right, and a hard one. HoloAssist (Wang et al., ICCV 2023) records people doing tasks with a HoloLens while an instructor guides them, and labels mistakes and interventions. IndustReal (Schoonbeek et al., WACV 2024) moves this to industrial-style assembly and introduces procedure step recognition: whether a step was actually completed, including when errors happen. EgoPER (Lee et al., CVPR 2024) and CaptainCook4D (Peddi et al., NeurIPS 2024) do the same for cooking, with deliberately planted errors. Ego4D (Grauman et al., CVPR 2022) is the large first-person video corpus many of these build on. What these have in common: each covers one domain, and methods trained on them need labelled video of that same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MEGH: Group two is recognising steps and learning task structure. MS-TCN (Farha and Gall, CVPR 2019) and ASFormer (Yi et al., BMVC 2021) are the standard models for temporal action segmentation: labelling every frame with the step being performed. MS-TCN uses stacked temporal convolutions and ASFormer uses a transformer. Paprika (Zhou et al., CVPR 2023) pre-trains video models with a procedural knowledge graph built from how-to articles. Video-Mined Task Graphs (Ashutosh et al., NeurIPS 2023) learns a graph of step order from many instructional videos. What we took from this group: step recognition tells you which action happened, not whether the object ended up in the right place. And task graphs capture order, but not rules that have no order. Mitul will cover mistake detection and the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MITUL: Hi, I'm Mitul KM, USN 1RVU23CSE273. Group three is online mistake detection and reasoning with language models. PREGO (Flaborea et al., CVPR 2024) is the closest work to ours. It detects mistakes online: one branch recognises the current step, a language model predicts the next step, and a mismatch is flagged as a mistake. Differentiable Task Graph Learning (Seminara et al., NeurIPS 2024) learns the task graph directly from example sequences and uses it for online mistake detection. SayCan (Ahn et al., CoRL 2022) and Code as Policies (Liang et al., ICRA 2023) come from robotics. They show an LLM can turn natural-language instructions into structured plans or code a machine can execute. That's the idea we borrow: the LLM compiles the manual into rules, and it never looks at the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MITUL: Group four is the perception building blocks we use. ArUco markers (Garrido-Jurado et al., Pattern Recognition 2014) give reliable reference points even with partial occlusion; we use them to map the camera view onto the jigsaw board. MediaPipe Hands (Zhang et al., 2020) tracks 21 hand landmarks in real time; it tells us when a hand is in the workspace, so we don't judge the scene while it's covered. YOLO-World (Cheng et al., CVPR 2024) is an open-vocabulary detector that finds objects from a text prompt without task-specific training. Jigsaw solving with unknown orientation (Gallagher, CVPR 2012) matches pieces by appearance and handles rotation; we use a similar idea, matching each piece against the box picture, so no detector training is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MITUL: Across these eighteen papers we found five gaps. One: per-task training. Almost every method learns from labelled video of the same task, so a new procedure needs new data and a new model. Two: order only. Task graphs describe sequences. A procedure like Jenga, defined only by rules with no fixed order, can't be expressed at all. Three: actions, not state. Step recognisers can say a piece was placed, but not whether it went into the right cell or was rotated wrongly. Four: no explanation. End-to-end models and vision-language models give a verdict you can't trace back to a rule, and they can hallucinate, which in a live system means false alarms. Five: offline evaluation. Most results are measured after the video ends; few report alert delay, latency, or false alerts on a correct run. Aadit will now state the problem we're addressing.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AADIT: Here is our problem statement. (Read the box aloud.) Given a written procedure, an instruction manual or a rulebook, and a live camera view of a person performing it, detect in real time every deviation from the procedure, a missed step, an out-of-order step, a wrong part, a wrong position or rotation, or an illegal move, without training a new model for each procedure, and make every alert traceable to an explicit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AADIT: We address it by splitting the problem into three parts. An LLM compiler reads the manual once, offline, and produces a procedure spec: what must be true before each move, and what each move should change. That covers gaps one and two, because a new procedure needs only its text, and the spec can be either ordered steps or rules with no order. A vision pipeline tracks hands and parts every frame and keeps a live world state: which jigsaw cells are filled and with which piece, and which Jenga slots are occupied. That covers gap three. A deterministic checker compares the two and raises the alert. Every alert names the rule that fired, and when the view is blocked the checker waits instead of guessing. That covers gap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AADIT: Significance: the same system, given a different manual, checks a different procedure; the approach carries over to lab protocols, clinical checklists and assembly lines. Scope: our two demonstrations are a jigsaw puzzle under one overhead webcam, where pieces are identified by matching against the box picture, and Jenga, using an iPhone Pro's LiDAR depth camera, because every block looks the same and depth shows which slots are empty. Out of scope: multiple people working at once, moving head-mounted cameras, and Jenga tower physics; we check whether a move is legal, not whether the tower will fall. How we'll measure it: precision and recall for each error type, false alerts per correct run, delay from the mistake to the alert, frame rate, and how accurately the LLM compiles the manuals. So far we've built the spec format, the validator, the LLM compiler, the checker for both procedures, and the jigsaw piece matcher, all covered by automated tests. Next are the live camera loop and the LiDAR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for 5 to 10 seconds at the end of the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AADIT: That's Third Eye.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172E"/>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57200" y="502920"/>
            <a:ext cx="685800" cy="685800"/>
          </a:xfrm>
          <a:prstGeom prst="rect">
            <a:avLst/>
          </a:prstGeom>
        </p:spPr>
      </p:pic>
      <p:sp>
        <p:nvSpPr>
          <p:cNvPr id="3" name="Text 0"/>
          <p:cNvSpPr txBox="1"/>
          <p:nvPr/>
        </p:nvSpPr>
        <p:spPr>
          <a:xfrm>
            <a:off x="457200" y="1234440"/>
            <a:ext cx="8229600" cy="86868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Third Eye</a:t>
            </a:r>
            <a:endParaRPr lang="en-US" sz="5400" dirty="0"/>
          </a:p>
        </p:txBody>
      </p:sp>
      <p:sp>
        <p:nvSpPr>
          <p:cNvPr id="4" name="Text 1"/>
          <p:cNvSpPr txBox="1"/>
          <p:nvPr/>
        </p:nvSpPr>
        <p:spPr>
          <a:xfrm>
            <a:off x="457200" y="2103120"/>
            <a:ext cx="7498080" cy="685800"/>
          </a:xfrm>
          <a:prstGeom prst="rect">
            <a:avLst/>
          </a:prstGeom>
          <a:noFill/>
          <a:ln/>
        </p:spPr>
        <p:txBody>
          <a:bodyPr wrap="square" lIns="0" tIns="0" rIns="0" bIns="0" rtlCol="0" anchor="ctr"/>
          <a:lstStyle/>
          <a:p>
            <a:pPr indent="0" marL="0">
              <a:buNone/>
            </a:pPr>
            <a:r>
              <a:rPr lang="en-US" sz="2000" dirty="0">
                <a:solidFill>
                  <a:srgbClr val="C9CBE3"/>
                </a:solidFill>
                <a:latin typeface="Calibri" pitchFamily="34" charset="0"/>
                <a:ea typeface="Calibri" pitchFamily="34" charset="-122"/>
                <a:cs typeface="Calibri" pitchFamily="34" charset="-120"/>
              </a:rPr>
              <a:t>Real-Time Detection of Procedural Errors from Video Using LLM-Compiled Rules</a:t>
            </a:r>
            <a:endParaRPr lang="en-US" sz="2000" dirty="0"/>
          </a:p>
        </p:txBody>
      </p:sp>
      <p:sp>
        <p:nvSpPr>
          <p:cNvPr id="5" name="Shape 2"/>
          <p:cNvSpPr/>
          <p:nvPr/>
        </p:nvSpPr>
        <p:spPr>
          <a:xfrm>
            <a:off x="457200" y="3063240"/>
            <a:ext cx="2148840" cy="731520"/>
          </a:xfrm>
          <a:prstGeom prst="roundRect">
            <a:avLst>
              <a:gd name="adj" fmla="val 10000"/>
            </a:avLst>
          </a:prstGeom>
          <a:solidFill>
            <a:srgbClr val="23264A"/>
          </a:solidFill>
          <a:ln w="12700">
            <a:solidFill>
              <a:srgbClr val="23264A"/>
            </a:solidFill>
            <a:prstDash val="solid"/>
          </a:ln>
        </p:spPr>
      </p:sp>
      <p:sp>
        <p:nvSpPr>
          <p:cNvPr id="6" name="Text 3"/>
          <p:cNvSpPr txBox="1"/>
          <p:nvPr/>
        </p:nvSpPr>
        <p:spPr>
          <a:xfrm>
            <a:off x="640080" y="3154680"/>
            <a:ext cx="1828800"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Aadit Pani</a:t>
            </a:r>
            <a:endParaRPr lang="en-US" sz="1500" dirty="0"/>
          </a:p>
        </p:txBody>
      </p:sp>
      <p:sp>
        <p:nvSpPr>
          <p:cNvPr id="7" name="Text 4"/>
          <p:cNvSpPr txBox="1"/>
          <p:nvPr/>
        </p:nvSpPr>
        <p:spPr>
          <a:xfrm>
            <a:off x="640080" y="3447288"/>
            <a:ext cx="1828800" cy="256032"/>
          </a:xfrm>
          <a:prstGeom prst="rect">
            <a:avLst/>
          </a:prstGeom>
          <a:noFill/>
          <a:ln/>
        </p:spPr>
        <p:txBody>
          <a:bodyPr wrap="square" lIns="0" tIns="0" rIns="0" bIns="0" rtlCol="0" anchor="ctr"/>
          <a:lstStyle/>
          <a:p>
            <a:pPr indent="0" marL="0">
              <a:buNone/>
            </a:pPr>
            <a:r>
              <a:rPr lang="en-US" sz="1200" dirty="0">
                <a:solidFill>
                  <a:srgbClr val="F2A541"/>
                </a:solidFill>
                <a:latin typeface="Calibri" pitchFamily="34" charset="0"/>
                <a:ea typeface="Calibri" pitchFamily="34" charset="-122"/>
                <a:cs typeface="Calibri" pitchFamily="34" charset="-120"/>
              </a:rPr>
              <a:t>1RVU23CSE002</a:t>
            </a:r>
            <a:endParaRPr lang="en-US" sz="1200" dirty="0"/>
          </a:p>
        </p:txBody>
      </p:sp>
      <p:sp>
        <p:nvSpPr>
          <p:cNvPr id="8" name="Shape 5"/>
          <p:cNvSpPr/>
          <p:nvPr/>
        </p:nvSpPr>
        <p:spPr>
          <a:xfrm>
            <a:off x="2788920" y="3063240"/>
            <a:ext cx="2148840" cy="731520"/>
          </a:xfrm>
          <a:prstGeom prst="roundRect">
            <a:avLst>
              <a:gd name="adj" fmla="val 10000"/>
            </a:avLst>
          </a:prstGeom>
          <a:solidFill>
            <a:srgbClr val="23264A"/>
          </a:solidFill>
          <a:ln w="12700">
            <a:solidFill>
              <a:srgbClr val="23264A"/>
            </a:solidFill>
            <a:prstDash val="solid"/>
          </a:ln>
        </p:spPr>
      </p:sp>
      <p:sp>
        <p:nvSpPr>
          <p:cNvPr id="9" name="Text 6"/>
          <p:cNvSpPr txBox="1"/>
          <p:nvPr/>
        </p:nvSpPr>
        <p:spPr>
          <a:xfrm>
            <a:off x="2971800" y="3154680"/>
            <a:ext cx="1828800"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Megh Mavani</a:t>
            </a:r>
            <a:endParaRPr lang="en-US" sz="1500" dirty="0"/>
          </a:p>
        </p:txBody>
      </p:sp>
      <p:sp>
        <p:nvSpPr>
          <p:cNvPr id="10" name="Text 7"/>
          <p:cNvSpPr txBox="1"/>
          <p:nvPr/>
        </p:nvSpPr>
        <p:spPr>
          <a:xfrm>
            <a:off x="2971800" y="3447288"/>
            <a:ext cx="1828800" cy="256032"/>
          </a:xfrm>
          <a:prstGeom prst="rect">
            <a:avLst/>
          </a:prstGeom>
          <a:noFill/>
          <a:ln/>
        </p:spPr>
        <p:txBody>
          <a:bodyPr wrap="square" lIns="0" tIns="0" rIns="0" bIns="0" rtlCol="0" anchor="ctr"/>
          <a:lstStyle/>
          <a:p>
            <a:pPr indent="0" marL="0">
              <a:buNone/>
            </a:pPr>
            <a:r>
              <a:rPr lang="en-US" sz="1200" dirty="0">
                <a:solidFill>
                  <a:srgbClr val="F2A541"/>
                </a:solidFill>
                <a:latin typeface="Calibri" pitchFamily="34" charset="0"/>
                <a:ea typeface="Calibri" pitchFamily="34" charset="-122"/>
                <a:cs typeface="Calibri" pitchFamily="34" charset="-120"/>
              </a:rPr>
              <a:t>1RVU23CSE260</a:t>
            </a:r>
            <a:endParaRPr lang="en-US" sz="1200" dirty="0"/>
          </a:p>
        </p:txBody>
      </p:sp>
      <p:sp>
        <p:nvSpPr>
          <p:cNvPr id="11" name="Shape 8"/>
          <p:cNvSpPr/>
          <p:nvPr/>
        </p:nvSpPr>
        <p:spPr>
          <a:xfrm>
            <a:off x="5120640" y="3063240"/>
            <a:ext cx="2148840" cy="731520"/>
          </a:xfrm>
          <a:prstGeom prst="roundRect">
            <a:avLst>
              <a:gd name="adj" fmla="val 10000"/>
            </a:avLst>
          </a:prstGeom>
          <a:solidFill>
            <a:srgbClr val="23264A"/>
          </a:solidFill>
          <a:ln w="12700">
            <a:solidFill>
              <a:srgbClr val="23264A"/>
            </a:solidFill>
            <a:prstDash val="solid"/>
          </a:ln>
        </p:spPr>
      </p:sp>
      <p:sp>
        <p:nvSpPr>
          <p:cNvPr id="12" name="Text 9"/>
          <p:cNvSpPr txBox="1"/>
          <p:nvPr/>
        </p:nvSpPr>
        <p:spPr>
          <a:xfrm>
            <a:off x="5303520" y="3154680"/>
            <a:ext cx="1828800"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Mitul KM</a:t>
            </a:r>
            <a:endParaRPr lang="en-US" sz="1500" dirty="0"/>
          </a:p>
        </p:txBody>
      </p:sp>
      <p:sp>
        <p:nvSpPr>
          <p:cNvPr id="13" name="Text 10"/>
          <p:cNvSpPr txBox="1"/>
          <p:nvPr/>
        </p:nvSpPr>
        <p:spPr>
          <a:xfrm>
            <a:off x="5303520" y="3447288"/>
            <a:ext cx="1828800" cy="256032"/>
          </a:xfrm>
          <a:prstGeom prst="rect">
            <a:avLst/>
          </a:prstGeom>
          <a:noFill/>
          <a:ln/>
        </p:spPr>
        <p:txBody>
          <a:bodyPr wrap="square" lIns="0" tIns="0" rIns="0" bIns="0" rtlCol="0" anchor="ctr"/>
          <a:lstStyle/>
          <a:p>
            <a:pPr indent="0" marL="0">
              <a:buNone/>
            </a:pPr>
            <a:r>
              <a:rPr lang="en-US" sz="1200" dirty="0">
                <a:solidFill>
                  <a:srgbClr val="F2A541"/>
                </a:solidFill>
                <a:latin typeface="Calibri" pitchFamily="34" charset="0"/>
                <a:ea typeface="Calibri" pitchFamily="34" charset="-122"/>
                <a:cs typeface="Calibri" pitchFamily="34" charset="-120"/>
              </a:rPr>
              <a:t>1RVU23CSE273</a:t>
            </a:r>
            <a:endParaRPr lang="en-US" sz="1200" dirty="0"/>
          </a:p>
        </p:txBody>
      </p:sp>
      <p:sp>
        <p:nvSpPr>
          <p:cNvPr id="14" name="Text 11"/>
          <p:cNvSpPr txBox="1"/>
          <p:nvPr/>
        </p:nvSpPr>
        <p:spPr>
          <a:xfrm>
            <a:off x="457200" y="4160520"/>
            <a:ext cx="8229600" cy="274320"/>
          </a:xfrm>
          <a:prstGeom prst="rect">
            <a:avLst/>
          </a:prstGeom>
          <a:noFill/>
          <a:ln/>
        </p:spPr>
        <p:txBody>
          <a:bodyPr wrap="square" lIns="0" tIns="0" rIns="0" bIns="0" rtlCol="0" anchor="ctr"/>
          <a:lstStyle/>
          <a:p>
            <a:pPr indent="0" marL="0">
              <a:buNone/>
            </a:pPr>
            <a:r>
              <a:rPr lang="en-US" sz="1300" dirty="0">
                <a:solidFill>
                  <a:srgbClr val="C9CBE3"/>
                </a:solidFill>
                <a:latin typeface="Calibri" pitchFamily="34" charset="0"/>
                <a:ea typeface="Calibri" pitchFamily="34" charset="-122"/>
                <a:cs typeface="Calibri" pitchFamily="34" charset="-120"/>
              </a:rPr>
              <a:t>Mentor: Prof. Manjul K Gupta   ·   CS3235 Mid Review</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28600"/>
          </a:xfrm>
          <a:prstGeom prst="rect">
            <a:avLst/>
          </a:prstGeom>
          <a:noFill/>
          <a:ln/>
        </p:spPr>
        <p:txBody>
          <a:bodyPr wrap="square" lIns="0" tIns="0" rIns="0" bIns="0" rtlCol="0" anchor="ctr"/>
          <a:lstStyle/>
          <a:p>
            <a:pPr indent="0" marL="0">
              <a:buNone/>
            </a:pPr>
            <a:r>
              <a:rPr lang="en-US" sz="1100" b="1" spc="200" kern="0" dirty="0">
                <a:solidFill>
                  <a:srgbClr val="5B5FC7"/>
                </a:solidFill>
                <a:latin typeface="Calibri" pitchFamily="34" charset="0"/>
                <a:ea typeface="Calibri" pitchFamily="34" charset="-122"/>
                <a:cs typeface="Calibri" pitchFamily="34" charset="-120"/>
              </a:rPr>
              <a:t>MOTIVATION</a:t>
            </a:r>
            <a:endParaRPr lang="en-US" sz="1100" dirty="0"/>
          </a:p>
        </p:txBody>
      </p:sp>
      <p:sp>
        <p:nvSpPr>
          <p:cNvPr id="3" name="Text 1"/>
          <p:cNvSpPr txBox="1"/>
          <p:nvPr/>
        </p:nvSpPr>
        <p:spPr>
          <a:xfrm>
            <a:off x="457200" y="502920"/>
            <a:ext cx="8229600" cy="594360"/>
          </a:xfrm>
          <a:prstGeom prst="rect">
            <a:avLst/>
          </a:prstGeom>
          <a:noFill/>
          <a:ln/>
        </p:spPr>
        <p:txBody>
          <a:bodyPr wrap="square" lIns="0" tIns="0" rIns="0" bIns="0" rtlCol="0" anchor="ctr"/>
          <a:lstStyle/>
          <a:p>
            <a:pPr indent="0" marL="0">
              <a:buNone/>
            </a:pPr>
            <a:r>
              <a:rPr lang="en-US" sz="3000" b="1" dirty="0">
                <a:solidFill>
                  <a:srgbClr val="15172E"/>
                </a:solidFill>
                <a:latin typeface="Cambria" pitchFamily="34" charset="0"/>
                <a:ea typeface="Cambria" pitchFamily="34" charset="-122"/>
                <a:cs typeface="Cambria" pitchFamily="34" charset="-120"/>
              </a:rPr>
              <a:t>Why this matters</a:t>
            </a:r>
            <a:endParaRPr lang="en-US" sz="3000" dirty="0"/>
          </a:p>
        </p:txBody>
      </p:sp>
      <p:sp>
        <p:nvSpPr>
          <p:cNvPr id="4" name="Text 2"/>
          <p:cNvSpPr txBox="1"/>
          <p:nvPr/>
        </p:nvSpPr>
        <p:spPr>
          <a:xfrm>
            <a:off x="457200" y="1188720"/>
            <a:ext cx="8229600" cy="365760"/>
          </a:xfrm>
          <a:prstGeom prst="rect">
            <a:avLst/>
          </a:prstGeom>
          <a:noFill/>
          <a:ln/>
        </p:spPr>
        <p:txBody>
          <a:bodyPr wrap="square" lIns="0" tIns="0" rIns="0" bIns="0" rtlCol="0" anchor="ctr"/>
          <a:lstStyle/>
          <a:p>
            <a:pPr indent="0" marL="0">
              <a:buNone/>
            </a:pPr>
            <a:r>
              <a:rPr lang="en-US" sz="1600" i="1" dirty="0">
                <a:solidFill>
                  <a:srgbClr val="5E6280"/>
                </a:solidFill>
                <a:latin typeface="Calibri" pitchFamily="34" charset="0"/>
                <a:ea typeface="Calibri" pitchFamily="34" charset="-122"/>
                <a:cs typeface="Calibri" pitchFamily="34" charset="-120"/>
              </a:rPr>
              <a:t>Most procedural errors are omissions or wrong order, and usually nobody is watching.</a:t>
            </a:r>
            <a:endParaRPr lang="en-US" sz="1600" dirty="0"/>
          </a:p>
        </p:txBody>
      </p:sp>
      <p:sp>
        <p:nvSpPr>
          <p:cNvPr id="5" name="Shape 3"/>
          <p:cNvSpPr/>
          <p:nvPr/>
        </p:nvSpPr>
        <p:spPr>
          <a:xfrm>
            <a:off x="457200" y="1737360"/>
            <a:ext cx="2606040" cy="1097280"/>
          </a:xfrm>
          <a:prstGeom prst="roundRect">
            <a:avLst>
              <a:gd name="adj" fmla="val 6667"/>
            </a:avLst>
          </a:prstGeom>
          <a:solidFill>
            <a:srgbClr val="F1F2F8"/>
          </a:solidFill>
          <a:ln w="12700">
            <a:solidFill>
              <a:srgbClr val="F1F2F8"/>
            </a:solidFill>
            <a:prstDash val="solid"/>
          </a:ln>
        </p:spPr>
      </p:sp>
      <p:sp>
        <p:nvSpPr>
          <p:cNvPr id="6" name="Shape 4"/>
          <p:cNvSpPr/>
          <p:nvPr/>
        </p:nvSpPr>
        <p:spPr>
          <a:xfrm>
            <a:off x="640080" y="1965960"/>
            <a:ext cx="640080" cy="640080"/>
          </a:xfrm>
          <a:prstGeom prst="ellipse">
            <a:avLst/>
          </a:prstGeom>
          <a:solidFill>
            <a:srgbClr val="15172E"/>
          </a:solidFill>
          <a:ln w="12700">
            <a:solidFill>
              <a:srgbClr val="15172E"/>
            </a:solidFill>
            <a:prstDash val="solid"/>
          </a:ln>
        </p:spPr>
      </p:sp>
      <p:pic>
        <p:nvPicPr>
          <p:cNvPr id="7" name="Image 0" descr="preencoded.png">    </p:cNvPr>
          <p:cNvPicPr>
            <a:picLocks noChangeAspect="1"/>
          </p:cNvPicPr>
          <p:nvPr/>
        </p:nvPicPr>
        <p:blipFill>
          <a:blip r:embed="rId1"/>
          <a:stretch>
            <a:fillRect/>
          </a:stretch>
        </p:blipFill>
        <p:spPr>
          <a:xfrm>
            <a:off x="800100" y="2125980"/>
            <a:ext cx="320040" cy="320040"/>
          </a:xfrm>
          <a:prstGeom prst="rect">
            <a:avLst/>
          </a:prstGeom>
        </p:spPr>
      </p:pic>
      <p:sp>
        <p:nvSpPr>
          <p:cNvPr id="8" name="Text 5"/>
          <p:cNvSpPr txBox="1"/>
          <p:nvPr/>
        </p:nvSpPr>
        <p:spPr>
          <a:xfrm>
            <a:off x="1417320" y="1965960"/>
            <a:ext cx="1554480" cy="320040"/>
          </a:xfrm>
          <a:prstGeom prst="rect">
            <a:avLst/>
          </a:prstGeom>
          <a:noFill/>
          <a:ln/>
        </p:spPr>
        <p:txBody>
          <a:bodyPr wrap="square" lIns="0" tIns="0" rIns="0" bIns="0" rtlCol="0" anchor="ctr"/>
          <a:lstStyle/>
          <a:p>
            <a:pPr indent="0" marL="0">
              <a:buNone/>
            </a:pPr>
            <a:r>
              <a:rPr lang="en-US" sz="1500" b="1" dirty="0">
                <a:solidFill>
                  <a:srgbClr val="1D1F33"/>
                </a:solidFill>
                <a:latin typeface="Calibri" pitchFamily="34" charset="0"/>
                <a:ea typeface="Calibri" pitchFamily="34" charset="-122"/>
                <a:cs typeface="Calibri" pitchFamily="34" charset="-120"/>
              </a:rPr>
              <a:t>Lab work</a:t>
            </a:r>
            <a:endParaRPr lang="en-US" sz="1500" dirty="0"/>
          </a:p>
        </p:txBody>
      </p:sp>
      <p:sp>
        <p:nvSpPr>
          <p:cNvPr id="9" name="Text 6"/>
          <p:cNvSpPr txBox="1"/>
          <p:nvPr/>
        </p:nvSpPr>
        <p:spPr>
          <a:xfrm>
            <a:off x="1417320" y="2286000"/>
            <a:ext cx="1554480" cy="457200"/>
          </a:xfrm>
          <a:prstGeom prst="rect">
            <a:avLst/>
          </a:prstGeom>
          <a:noFill/>
          <a:ln/>
        </p:spPr>
        <p:txBody>
          <a:bodyPr wrap="square" lIns="0" tIns="0" rIns="0" bIns="0" rtlCol="0" anchor="ctr"/>
          <a:lstStyle/>
          <a:p>
            <a:pPr indent="0" marL="0">
              <a:buNone/>
            </a:pPr>
            <a:r>
              <a:rPr lang="en-US" sz="1200" dirty="0">
                <a:solidFill>
                  <a:srgbClr val="5E6280"/>
                </a:solidFill>
                <a:latin typeface="Calibri" pitchFamily="34" charset="0"/>
                <a:ea typeface="Calibri" pitchFamily="34" charset="-122"/>
                <a:cs typeface="Calibri" pitchFamily="34" charset="-120"/>
              </a:rPr>
              <a:t>Skipped reagent, wrong sequence</a:t>
            </a:r>
            <a:endParaRPr lang="en-US" sz="1200" dirty="0"/>
          </a:p>
        </p:txBody>
      </p:sp>
      <p:sp>
        <p:nvSpPr>
          <p:cNvPr id="10" name="Shape 7"/>
          <p:cNvSpPr/>
          <p:nvPr/>
        </p:nvSpPr>
        <p:spPr>
          <a:xfrm>
            <a:off x="3246120" y="1737360"/>
            <a:ext cx="2606040" cy="1097280"/>
          </a:xfrm>
          <a:prstGeom prst="roundRect">
            <a:avLst>
              <a:gd name="adj" fmla="val 6667"/>
            </a:avLst>
          </a:prstGeom>
          <a:solidFill>
            <a:srgbClr val="F1F2F8"/>
          </a:solidFill>
          <a:ln w="12700">
            <a:solidFill>
              <a:srgbClr val="F1F2F8"/>
            </a:solidFill>
            <a:prstDash val="solid"/>
          </a:ln>
        </p:spPr>
      </p:sp>
      <p:sp>
        <p:nvSpPr>
          <p:cNvPr id="11" name="Shape 8"/>
          <p:cNvSpPr/>
          <p:nvPr/>
        </p:nvSpPr>
        <p:spPr>
          <a:xfrm>
            <a:off x="3429000" y="1965960"/>
            <a:ext cx="640080" cy="640080"/>
          </a:xfrm>
          <a:prstGeom prst="ellipse">
            <a:avLst/>
          </a:prstGeom>
          <a:solidFill>
            <a:srgbClr val="15172E"/>
          </a:solidFill>
          <a:ln w="12700">
            <a:solidFill>
              <a:srgbClr val="15172E"/>
            </a:solidFill>
            <a:prstDash val="solid"/>
          </a:ln>
        </p:spPr>
      </p:sp>
      <p:pic>
        <p:nvPicPr>
          <p:cNvPr id="12" name="Image 1" descr="preencoded.png">    </p:cNvPr>
          <p:cNvPicPr>
            <a:picLocks noChangeAspect="1"/>
          </p:cNvPicPr>
          <p:nvPr/>
        </p:nvPicPr>
        <p:blipFill>
          <a:blip r:embed="rId2"/>
          <a:stretch>
            <a:fillRect/>
          </a:stretch>
        </p:blipFill>
        <p:spPr>
          <a:xfrm>
            <a:off x="3589020" y="2125980"/>
            <a:ext cx="320040" cy="320040"/>
          </a:xfrm>
          <a:prstGeom prst="rect">
            <a:avLst/>
          </a:prstGeom>
        </p:spPr>
      </p:pic>
      <p:sp>
        <p:nvSpPr>
          <p:cNvPr id="13" name="Text 9"/>
          <p:cNvSpPr txBox="1"/>
          <p:nvPr/>
        </p:nvSpPr>
        <p:spPr>
          <a:xfrm>
            <a:off x="4206240" y="1965960"/>
            <a:ext cx="1554480" cy="320040"/>
          </a:xfrm>
          <a:prstGeom prst="rect">
            <a:avLst/>
          </a:prstGeom>
          <a:noFill/>
          <a:ln/>
        </p:spPr>
        <p:txBody>
          <a:bodyPr wrap="square" lIns="0" tIns="0" rIns="0" bIns="0" rtlCol="0" anchor="ctr"/>
          <a:lstStyle/>
          <a:p>
            <a:pPr indent="0" marL="0">
              <a:buNone/>
            </a:pPr>
            <a:r>
              <a:rPr lang="en-US" sz="1500" b="1" dirty="0">
                <a:solidFill>
                  <a:srgbClr val="1D1F33"/>
                </a:solidFill>
                <a:latin typeface="Calibri" pitchFamily="34" charset="0"/>
                <a:ea typeface="Calibri" pitchFamily="34" charset="-122"/>
                <a:cs typeface="Calibri" pitchFamily="34" charset="-120"/>
              </a:rPr>
              <a:t>Clinical routines</a:t>
            </a:r>
            <a:endParaRPr lang="en-US" sz="1500" dirty="0"/>
          </a:p>
        </p:txBody>
      </p:sp>
      <p:sp>
        <p:nvSpPr>
          <p:cNvPr id="14" name="Text 10"/>
          <p:cNvSpPr txBox="1"/>
          <p:nvPr/>
        </p:nvSpPr>
        <p:spPr>
          <a:xfrm>
            <a:off x="4206240" y="2286000"/>
            <a:ext cx="1554480" cy="457200"/>
          </a:xfrm>
          <a:prstGeom prst="rect">
            <a:avLst/>
          </a:prstGeom>
          <a:noFill/>
          <a:ln/>
        </p:spPr>
        <p:txBody>
          <a:bodyPr wrap="square" lIns="0" tIns="0" rIns="0" bIns="0" rtlCol="0" anchor="ctr"/>
          <a:lstStyle/>
          <a:p>
            <a:pPr indent="0" marL="0">
              <a:buNone/>
            </a:pPr>
            <a:r>
              <a:rPr lang="en-US" sz="1200" dirty="0">
                <a:solidFill>
                  <a:srgbClr val="5E6280"/>
                </a:solidFill>
                <a:latin typeface="Calibri" pitchFamily="34" charset="0"/>
                <a:ea typeface="Calibri" pitchFamily="34" charset="-122"/>
                <a:cs typeface="Calibri" pitchFamily="34" charset="-120"/>
              </a:rPr>
              <a:t>Hand-hygiene steps missed</a:t>
            </a:r>
            <a:endParaRPr lang="en-US" sz="1200" dirty="0"/>
          </a:p>
        </p:txBody>
      </p:sp>
      <p:sp>
        <p:nvSpPr>
          <p:cNvPr id="15" name="Shape 11"/>
          <p:cNvSpPr/>
          <p:nvPr/>
        </p:nvSpPr>
        <p:spPr>
          <a:xfrm>
            <a:off x="6035040" y="1737360"/>
            <a:ext cx="2606040" cy="1097280"/>
          </a:xfrm>
          <a:prstGeom prst="roundRect">
            <a:avLst>
              <a:gd name="adj" fmla="val 6667"/>
            </a:avLst>
          </a:prstGeom>
          <a:solidFill>
            <a:srgbClr val="F1F2F8"/>
          </a:solidFill>
          <a:ln w="12700">
            <a:solidFill>
              <a:srgbClr val="F1F2F8"/>
            </a:solidFill>
            <a:prstDash val="solid"/>
          </a:ln>
        </p:spPr>
      </p:sp>
      <p:sp>
        <p:nvSpPr>
          <p:cNvPr id="16" name="Shape 12"/>
          <p:cNvSpPr/>
          <p:nvPr/>
        </p:nvSpPr>
        <p:spPr>
          <a:xfrm>
            <a:off x="6217920" y="1965960"/>
            <a:ext cx="640080" cy="640080"/>
          </a:xfrm>
          <a:prstGeom prst="ellipse">
            <a:avLst/>
          </a:prstGeom>
          <a:solidFill>
            <a:srgbClr val="15172E"/>
          </a:solidFill>
          <a:ln w="12700">
            <a:solidFill>
              <a:srgbClr val="15172E"/>
            </a:solidFill>
            <a:prstDash val="solid"/>
          </a:ln>
        </p:spPr>
      </p:sp>
      <p:pic>
        <p:nvPicPr>
          <p:cNvPr id="17" name="Image 2" descr="preencoded.png">    </p:cNvPr>
          <p:cNvPicPr>
            <a:picLocks noChangeAspect="1"/>
          </p:cNvPicPr>
          <p:nvPr/>
        </p:nvPicPr>
        <p:blipFill>
          <a:blip r:embed="rId3"/>
          <a:stretch>
            <a:fillRect/>
          </a:stretch>
        </p:blipFill>
        <p:spPr>
          <a:xfrm>
            <a:off x="6377940" y="2125980"/>
            <a:ext cx="320040" cy="320040"/>
          </a:xfrm>
          <a:prstGeom prst="rect">
            <a:avLst/>
          </a:prstGeom>
        </p:spPr>
      </p:pic>
      <p:sp>
        <p:nvSpPr>
          <p:cNvPr id="18" name="Text 13"/>
          <p:cNvSpPr txBox="1"/>
          <p:nvPr/>
        </p:nvSpPr>
        <p:spPr>
          <a:xfrm>
            <a:off x="6995160" y="1965960"/>
            <a:ext cx="1554480" cy="320040"/>
          </a:xfrm>
          <a:prstGeom prst="rect">
            <a:avLst/>
          </a:prstGeom>
          <a:noFill/>
          <a:ln/>
        </p:spPr>
        <p:txBody>
          <a:bodyPr wrap="square" lIns="0" tIns="0" rIns="0" bIns="0" rtlCol="0" anchor="ctr"/>
          <a:lstStyle/>
          <a:p>
            <a:pPr indent="0" marL="0">
              <a:buNone/>
            </a:pPr>
            <a:r>
              <a:rPr lang="en-US" sz="1500" b="1" dirty="0">
                <a:solidFill>
                  <a:srgbClr val="1D1F33"/>
                </a:solidFill>
                <a:latin typeface="Calibri" pitchFamily="34" charset="0"/>
                <a:ea typeface="Calibri" pitchFamily="34" charset="-122"/>
                <a:cs typeface="Calibri" pitchFamily="34" charset="-120"/>
              </a:rPr>
              <a:t>Assembly lines</a:t>
            </a:r>
            <a:endParaRPr lang="en-US" sz="1500" dirty="0"/>
          </a:p>
        </p:txBody>
      </p:sp>
      <p:sp>
        <p:nvSpPr>
          <p:cNvPr id="19" name="Text 14"/>
          <p:cNvSpPr txBox="1"/>
          <p:nvPr/>
        </p:nvSpPr>
        <p:spPr>
          <a:xfrm>
            <a:off x="6995160" y="2286000"/>
            <a:ext cx="1554480" cy="457200"/>
          </a:xfrm>
          <a:prstGeom prst="rect">
            <a:avLst/>
          </a:prstGeom>
          <a:noFill/>
          <a:ln/>
        </p:spPr>
        <p:txBody>
          <a:bodyPr wrap="square" lIns="0" tIns="0" rIns="0" bIns="0" rtlCol="0" anchor="ctr"/>
          <a:lstStyle/>
          <a:p>
            <a:pPr indent="0" marL="0">
              <a:buNone/>
            </a:pPr>
            <a:r>
              <a:rPr lang="en-US" sz="1200" dirty="0">
                <a:solidFill>
                  <a:srgbClr val="5E6280"/>
                </a:solidFill>
                <a:latin typeface="Calibri" pitchFamily="34" charset="0"/>
                <a:ea typeface="Calibri" pitchFamily="34" charset="-122"/>
                <a:cs typeface="Calibri" pitchFamily="34" charset="-120"/>
              </a:rPr>
              <a:t>Part fitted before its base</a:t>
            </a:r>
            <a:endParaRPr lang="en-US" sz="1200" dirty="0"/>
          </a:p>
        </p:txBody>
      </p:sp>
      <p:sp>
        <p:nvSpPr>
          <p:cNvPr id="20" name="Text 15"/>
          <p:cNvSpPr txBox="1"/>
          <p:nvPr/>
        </p:nvSpPr>
        <p:spPr>
          <a:xfrm>
            <a:off x="457200" y="3063240"/>
            <a:ext cx="8229600" cy="274320"/>
          </a:xfrm>
          <a:prstGeom prst="rect">
            <a:avLst/>
          </a:prstGeom>
          <a:noFill/>
          <a:ln/>
        </p:spPr>
        <p:txBody>
          <a:bodyPr wrap="square" lIns="0" tIns="0" rIns="0" bIns="0" rtlCol="0" anchor="ctr"/>
          <a:lstStyle/>
          <a:p>
            <a:pPr indent="0" marL="0">
              <a:buNone/>
            </a:pPr>
            <a:r>
              <a:rPr lang="en-US" sz="1400" b="1" dirty="0">
                <a:solidFill>
                  <a:srgbClr val="15172E"/>
                </a:solidFill>
                <a:latin typeface="Calibri" pitchFamily="34" charset="0"/>
                <a:ea typeface="Calibri" pitchFamily="34" charset="-122"/>
                <a:cs typeface="Calibri" pitchFamily="34" charset="-120"/>
              </a:rPr>
              <a:t>Our two test procedures</a:t>
            </a:r>
            <a:endParaRPr lang="en-US" sz="1400" dirty="0"/>
          </a:p>
        </p:txBody>
      </p:sp>
      <p:sp>
        <p:nvSpPr>
          <p:cNvPr id="21" name="Shape 16"/>
          <p:cNvSpPr/>
          <p:nvPr/>
        </p:nvSpPr>
        <p:spPr>
          <a:xfrm>
            <a:off x="457200" y="3429000"/>
            <a:ext cx="4023360" cy="1097280"/>
          </a:xfrm>
          <a:prstGeom prst="roundRect">
            <a:avLst>
              <a:gd name="adj" fmla="val 6667"/>
            </a:avLst>
          </a:prstGeom>
          <a:solidFill>
            <a:srgbClr val="15172E"/>
          </a:solidFill>
          <a:ln w="12700">
            <a:solidFill>
              <a:srgbClr val="15172E"/>
            </a:solidFill>
            <a:prstDash val="solid"/>
          </a:ln>
        </p:spPr>
      </p:sp>
      <p:pic>
        <p:nvPicPr>
          <p:cNvPr id="22" name="Image 3" descr="preencoded.png">    </p:cNvPr>
          <p:cNvPicPr>
            <a:picLocks noChangeAspect="1"/>
          </p:cNvPicPr>
          <p:nvPr/>
        </p:nvPicPr>
        <p:blipFill>
          <a:blip r:embed="rId4"/>
          <a:stretch>
            <a:fillRect/>
          </a:stretch>
        </p:blipFill>
        <p:spPr>
          <a:xfrm>
            <a:off x="685800" y="3721608"/>
            <a:ext cx="502920" cy="502920"/>
          </a:xfrm>
          <a:prstGeom prst="rect">
            <a:avLst/>
          </a:prstGeom>
        </p:spPr>
      </p:pic>
      <p:sp>
        <p:nvSpPr>
          <p:cNvPr id="23" name="Text 17"/>
          <p:cNvSpPr txBox="1"/>
          <p:nvPr/>
        </p:nvSpPr>
        <p:spPr>
          <a:xfrm>
            <a:off x="1417320" y="3566160"/>
            <a:ext cx="292608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Jigsaw puzzle</a:t>
            </a:r>
            <a:endParaRPr lang="en-US" sz="1500" dirty="0"/>
          </a:p>
        </p:txBody>
      </p:sp>
      <p:sp>
        <p:nvSpPr>
          <p:cNvPr id="24" name="Text 18"/>
          <p:cNvSpPr txBox="1"/>
          <p:nvPr/>
        </p:nvSpPr>
        <p:spPr>
          <a:xfrm>
            <a:off x="1417320" y="3886200"/>
            <a:ext cx="2926080" cy="502920"/>
          </a:xfrm>
          <a:prstGeom prst="rect">
            <a:avLst/>
          </a:prstGeom>
          <a:noFill/>
          <a:ln/>
        </p:spPr>
        <p:txBody>
          <a:bodyPr wrap="square" lIns="0" tIns="0" rIns="0" bIns="0" rtlCol="0" anchor="ctr"/>
          <a:lstStyle/>
          <a:p>
            <a:pPr indent="0" marL="0">
              <a:buNone/>
            </a:pPr>
            <a:r>
              <a:rPr lang="en-US" sz="1200" dirty="0">
                <a:solidFill>
                  <a:srgbClr val="C9CBE3"/>
                </a:solidFill>
                <a:latin typeface="Calibri" pitchFamily="34" charset="0"/>
                <a:ea typeface="Calibri" pitchFamily="34" charset="-122"/>
                <a:cs typeface="Calibri" pitchFamily="34" charset="-120"/>
              </a:rPr>
              <a:t>Ordered method: corners → edges → interior</a:t>
            </a:r>
            <a:endParaRPr lang="en-US" sz="1200" dirty="0"/>
          </a:p>
        </p:txBody>
      </p:sp>
      <p:sp>
        <p:nvSpPr>
          <p:cNvPr id="25" name="Shape 19"/>
          <p:cNvSpPr/>
          <p:nvPr/>
        </p:nvSpPr>
        <p:spPr>
          <a:xfrm>
            <a:off x="4663440" y="3429000"/>
            <a:ext cx="4023360" cy="1097280"/>
          </a:xfrm>
          <a:prstGeom prst="roundRect">
            <a:avLst>
              <a:gd name="adj" fmla="val 6667"/>
            </a:avLst>
          </a:prstGeom>
          <a:solidFill>
            <a:srgbClr val="15172E"/>
          </a:solidFill>
          <a:ln w="12700">
            <a:solidFill>
              <a:srgbClr val="15172E"/>
            </a:solidFill>
            <a:prstDash val="solid"/>
          </a:ln>
        </p:spPr>
      </p:sp>
      <p:pic>
        <p:nvPicPr>
          <p:cNvPr id="26" name="Image 4" descr="preencoded.png">    </p:cNvPr>
          <p:cNvPicPr>
            <a:picLocks noChangeAspect="1"/>
          </p:cNvPicPr>
          <p:nvPr/>
        </p:nvPicPr>
        <p:blipFill>
          <a:blip r:embed="rId5"/>
          <a:stretch>
            <a:fillRect/>
          </a:stretch>
        </p:blipFill>
        <p:spPr>
          <a:xfrm>
            <a:off x="4892040" y="3721608"/>
            <a:ext cx="502920" cy="502920"/>
          </a:xfrm>
          <a:prstGeom prst="rect">
            <a:avLst/>
          </a:prstGeom>
        </p:spPr>
      </p:pic>
      <p:sp>
        <p:nvSpPr>
          <p:cNvPr id="27" name="Text 20"/>
          <p:cNvSpPr txBox="1"/>
          <p:nvPr/>
        </p:nvSpPr>
        <p:spPr>
          <a:xfrm>
            <a:off x="5623560" y="3566160"/>
            <a:ext cx="292608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Jenga</a:t>
            </a:r>
            <a:endParaRPr lang="en-US" sz="1500" dirty="0"/>
          </a:p>
        </p:txBody>
      </p:sp>
      <p:sp>
        <p:nvSpPr>
          <p:cNvPr id="28" name="Text 21"/>
          <p:cNvSpPr txBox="1"/>
          <p:nvPr/>
        </p:nvSpPr>
        <p:spPr>
          <a:xfrm>
            <a:off x="5623560" y="3886200"/>
            <a:ext cx="2926080" cy="502920"/>
          </a:xfrm>
          <a:prstGeom prst="rect">
            <a:avLst/>
          </a:prstGeom>
          <a:noFill/>
          <a:ln/>
        </p:spPr>
        <p:txBody>
          <a:bodyPr wrap="square" lIns="0" tIns="0" rIns="0" bIns="0" rtlCol="0" anchor="ctr"/>
          <a:lstStyle/>
          <a:p>
            <a:pPr indent="0" marL="0">
              <a:buNone/>
            </a:pPr>
            <a:r>
              <a:rPr lang="en-US" sz="1200" dirty="0">
                <a:solidFill>
                  <a:srgbClr val="C9CBE3"/>
                </a:solidFill>
                <a:latin typeface="Calibri" pitchFamily="34" charset="0"/>
                <a:ea typeface="Calibri" pitchFamily="34" charset="-122"/>
                <a:cs typeface="Calibri" pitchFamily="34" charset="-120"/>
              </a:rPr>
              <a:t>No order at all, only rules: never pull from the top complete layer</a:t>
            </a:r>
            <a:endParaRPr lang="en-US" sz="1200" dirty="0"/>
          </a:p>
        </p:txBody>
      </p:sp>
      <p:sp>
        <p:nvSpPr>
          <p:cNvPr id="29" name="Text 22"/>
          <p:cNvSpPr txBox="1"/>
          <p:nvPr/>
        </p:nvSpPr>
        <p:spPr>
          <a:xfrm>
            <a:off x="6400800" y="4754880"/>
            <a:ext cx="2286000" cy="228600"/>
          </a:xfrm>
          <a:prstGeom prst="rect">
            <a:avLst/>
          </a:prstGeom>
          <a:noFill/>
          <a:ln/>
        </p:spPr>
        <p:txBody>
          <a:bodyPr wrap="square" lIns="0" tIns="0" rIns="0" bIns="0" rtlCol="0" anchor="ctr"/>
          <a:lstStyle/>
          <a:p>
            <a:pPr algn="r" indent="0" marL="0">
              <a:buNone/>
            </a:pPr>
            <a:r>
              <a:rPr lang="en-US" sz="1000" i="1" dirty="0">
                <a:solidFill>
                  <a:srgbClr val="5E6280"/>
                </a:solidFill>
                <a:latin typeface="Calibri" pitchFamily="34" charset="0"/>
                <a:ea typeface="Calibri" pitchFamily="34" charset="-122"/>
                <a:cs typeface="Calibri" pitchFamily="34" charset="-120"/>
              </a:rPr>
              <a:t>Aadit Pani</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28600"/>
          </a:xfrm>
          <a:prstGeom prst="rect">
            <a:avLst/>
          </a:prstGeom>
          <a:noFill/>
          <a:ln/>
        </p:spPr>
        <p:txBody>
          <a:bodyPr wrap="square" lIns="0" tIns="0" rIns="0" bIns="0" rtlCol="0" anchor="ctr"/>
          <a:lstStyle/>
          <a:p>
            <a:pPr indent="0" marL="0">
              <a:buNone/>
            </a:pPr>
            <a:r>
              <a:rPr lang="en-US" sz="1100" b="1" spc="200" kern="0" dirty="0">
                <a:solidFill>
                  <a:srgbClr val="5B5FC7"/>
                </a:solidFill>
                <a:latin typeface="Calibri" pitchFamily="34" charset="0"/>
                <a:ea typeface="Calibri" pitchFamily="34" charset="-122"/>
                <a:cs typeface="Calibri" pitchFamily="34" charset="-120"/>
              </a:rPr>
              <a:t>LITERATURE SURVEY · 1 OF 4</a:t>
            </a:r>
            <a:endParaRPr lang="en-US" sz="1100" dirty="0"/>
          </a:p>
        </p:txBody>
      </p:sp>
      <p:sp>
        <p:nvSpPr>
          <p:cNvPr id="3" name="Text 1"/>
          <p:cNvSpPr txBox="1"/>
          <p:nvPr/>
        </p:nvSpPr>
        <p:spPr>
          <a:xfrm>
            <a:off x="457200" y="502920"/>
            <a:ext cx="8229600" cy="594360"/>
          </a:xfrm>
          <a:prstGeom prst="rect">
            <a:avLst/>
          </a:prstGeom>
          <a:noFill/>
          <a:ln/>
        </p:spPr>
        <p:txBody>
          <a:bodyPr wrap="square" lIns="0" tIns="0" rIns="0" bIns="0" rtlCol="0" anchor="ctr"/>
          <a:lstStyle/>
          <a:p>
            <a:pPr indent="0" marL="0">
              <a:buNone/>
            </a:pPr>
            <a:r>
              <a:rPr lang="en-US" sz="3000" b="1" dirty="0">
                <a:solidFill>
                  <a:srgbClr val="15172E"/>
                </a:solidFill>
                <a:latin typeface="Cambria" pitchFamily="34" charset="0"/>
                <a:ea typeface="Cambria" pitchFamily="34" charset="-122"/>
                <a:cs typeface="Cambria" pitchFamily="34" charset="-120"/>
              </a:rPr>
              <a:t>Datasets for procedural mistakes</a:t>
            </a:r>
            <a:endParaRPr lang="en-US" sz="3000" dirty="0"/>
          </a:p>
        </p:txBody>
      </p:sp>
      <p:sp>
        <p:nvSpPr>
          <p:cNvPr id="4" name="Shape 2"/>
          <p:cNvSpPr/>
          <p:nvPr/>
        </p:nvSpPr>
        <p:spPr>
          <a:xfrm>
            <a:off x="457200" y="1234440"/>
            <a:ext cx="2606040" cy="1234440"/>
          </a:xfrm>
          <a:prstGeom prst="roundRect">
            <a:avLst>
              <a:gd name="adj" fmla="val 5926"/>
            </a:avLst>
          </a:prstGeom>
          <a:solidFill>
            <a:srgbClr val="F1F2F8"/>
          </a:solidFill>
          <a:ln w="12700">
            <a:solidFill>
              <a:srgbClr val="F1F2F8"/>
            </a:solidFill>
            <a:prstDash val="solid"/>
          </a:ln>
        </p:spPr>
      </p:sp>
      <p:sp>
        <p:nvSpPr>
          <p:cNvPr id="5" name="Shape 3"/>
          <p:cNvSpPr/>
          <p:nvPr/>
        </p:nvSpPr>
        <p:spPr>
          <a:xfrm>
            <a:off x="594360" y="1371600"/>
            <a:ext cx="384048" cy="384048"/>
          </a:xfrm>
          <a:prstGeom prst="ellipse">
            <a:avLst/>
          </a:prstGeom>
          <a:solidFill>
            <a:srgbClr val="5B5FC7"/>
          </a:solidFill>
          <a:ln w="12700">
            <a:solidFill>
              <a:srgbClr val="5B5FC7"/>
            </a:solidFill>
            <a:prstDash val="solid"/>
          </a:ln>
        </p:spPr>
      </p:sp>
      <p:sp>
        <p:nvSpPr>
          <p:cNvPr id="6" name="Text 4"/>
          <p:cNvSpPr txBox="1"/>
          <p:nvPr/>
        </p:nvSpPr>
        <p:spPr>
          <a:xfrm>
            <a:off x="594360" y="1371600"/>
            <a:ext cx="384048" cy="384048"/>
          </a:xfrm>
          <a:prstGeom prst="rect">
            <a:avLst/>
          </a:prstGeom>
          <a:noFill/>
          <a:ln/>
        </p:spPr>
        <p:txBody>
          <a:bodyPr wrap="square" lIns="0" tIns="0" rIns="0" bIns="0" rtlCol="0" anchor="ctr"/>
          <a:lstStyle/>
          <a:p>
            <a:pPr algn="ctr" indent="0" marL="0">
              <a:buNone/>
            </a:pPr>
            <a:r>
              <a:rPr lang="en-US" sz="924" b="1" dirty="0">
                <a:solidFill>
                  <a:srgbClr val="FFFFFF"/>
                </a:solidFill>
                <a:latin typeface="Cambria" pitchFamily="34" charset="0"/>
                <a:ea typeface="Cambria" pitchFamily="34" charset="-122"/>
                <a:cs typeface="Cambria" pitchFamily="34" charset="-120"/>
              </a:rPr>
              <a:t>1</a:t>
            </a:r>
            <a:endParaRPr lang="en-US" sz="924" dirty="0"/>
          </a:p>
        </p:txBody>
      </p:sp>
      <p:sp>
        <p:nvSpPr>
          <p:cNvPr id="7" name="Text 5"/>
          <p:cNvSpPr txBox="1"/>
          <p:nvPr/>
        </p:nvSpPr>
        <p:spPr>
          <a:xfrm>
            <a:off x="1097280" y="1353312"/>
            <a:ext cx="1874520" cy="274320"/>
          </a:xfrm>
          <a:prstGeom prst="rect">
            <a:avLst/>
          </a:prstGeom>
          <a:noFill/>
          <a:ln/>
        </p:spPr>
        <p:txBody>
          <a:bodyPr wrap="square" lIns="0" tIns="0" rIns="0" bIns="0" rtlCol="0" anchor="ctr"/>
          <a:lstStyle/>
          <a:p>
            <a:pPr indent="0" marL="0">
              <a:buNone/>
            </a:pPr>
            <a:r>
              <a:rPr lang="en-US" sz="1500" b="1" dirty="0">
                <a:solidFill>
                  <a:srgbClr val="1D1F33"/>
                </a:solidFill>
                <a:latin typeface="Calibri" pitchFamily="34" charset="0"/>
                <a:ea typeface="Calibri" pitchFamily="34" charset="-122"/>
                <a:cs typeface="Calibri" pitchFamily="34" charset="-120"/>
              </a:rPr>
              <a:t>Assembly101</a:t>
            </a:r>
            <a:endParaRPr lang="en-US" sz="1500" dirty="0"/>
          </a:p>
        </p:txBody>
      </p:sp>
      <p:sp>
        <p:nvSpPr>
          <p:cNvPr id="8" name="Text 6"/>
          <p:cNvSpPr txBox="1"/>
          <p:nvPr/>
        </p:nvSpPr>
        <p:spPr>
          <a:xfrm>
            <a:off x="1097280" y="1627632"/>
            <a:ext cx="1874520" cy="228600"/>
          </a:xfrm>
          <a:prstGeom prst="rect">
            <a:avLst/>
          </a:prstGeom>
          <a:noFill/>
          <a:ln/>
        </p:spPr>
        <p:txBody>
          <a:bodyPr wrap="square" lIns="0" tIns="0" rIns="0" bIns="0" rtlCol="0" anchor="ctr"/>
          <a:lstStyle/>
          <a:p>
            <a:pPr indent="0" marL="0">
              <a:buNone/>
            </a:pPr>
            <a:r>
              <a:rPr lang="en-US" sz="1050" dirty="0">
                <a:solidFill>
                  <a:srgbClr val="5B5FC7"/>
                </a:solidFill>
                <a:latin typeface="Calibri" pitchFamily="34" charset="0"/>
                <a:ea typeface="Calibri" pitchFamily="34" charset="-122"/>
                <a:cs typeface="Calibri" pitchFamily="34" charset="-120"/>
              </a:rPr>
              <a:t>Sener et al., CVPR 2022</a:t>
            </a:r>
            <a:endParaRPr lang="en-US" sz="1050" dirty="0"/>
          </a:p>
        </p:txBody>
      </p:sp>
      <p:sp>
        <p:nvSpPr>
          <p:cNvPr id="9" name="Text 7"/>
          <p:cNvSpPr txBox="1"/>
          <p:nvPr/>
        </p:nvSpPr>
        <p:spPr>
          <a:xfrm>
            <a:off x="594360" y="1920240"/>
            <a:ext cx="2331720" cy="457200"/>
          </a:xfrm>
          <a:prstGeom prst="rect">
            <a:avLst/>
          </a:prstGeom>
          <a:noFill/>
          <a:ln/>
        </p:spPr>
        <p:txBody>
          <a:bodyPr wrap="square" lIns="0" tIns="0" rIns="0" bIns="0" rtlCol="0" anchor="ctr"/>
          <a:lstStyle/>
          <a:p>
            <a:pPr indent="0" marL="0">
              <a:buNone/>
            </a:pPr>
            <a:r>
              <a:rPr lang="en-US" sz="1200" dirty="0">
                <a:solidFill>
                  <a:srgbClr val="5E6280"/>
                </a:solidFill>
                <a:latin typeface="Calibri" pitchFamily="34" charset="0"/>
                <a:ea typeface="Calibri" pitchFamily="34" charset="-122"/>
                <a:cs typeface="Calibri" pitchFamily="34" charset="-120"/>
              </a:rPr>
              <a:t>Multi-view toy-vehicle assembly with mistake labels</a:t>
            </a:r>
            <a:endParaRPr lang="en-US" sz="1200" dirty="0"/>
          </a:p>
        </p:txBody>
      </p:sp>
      <p:sp>
        <p:nvSpPr>
          <p:cNvPr id="10" name="Shape 8"/>
          <p:cNvSpPr/>
          <p:nvPr/>
        </p:nvSpPr>
        <p:spPr>
          <a:xfrm>
            <a:off x="3246120" y="1234440"/>
            <a:ext cx="2606040" cy="1234440"/>
          </a:xfrm>
          <a:prstGeom prst="roundRect">
            <a:avLst>
              <a:gd name="adj" fmla="val 5926"/>
            </a:avLst>
          </a:prstGeom>
          <a:solidFill>
            <a:srgbClr val="F1F2F8"/>
          </a:solidFill>
          <a:ln w="12700">
            <a:solidFill>
              <a:srgbClr val="F1F2F8"/>
            </a:solidFill>
            <a:prstDash val="solid"/>
          </a:ln>
        </p:spPr>
      </p:sp>
      <p:sp>
        <p:nvSpPr>
          <p:cNvPr id="11" name="Shape 9"/>
          <p:cNvSpPr/>
          <p:nvPr/>
        </p:nvSpPr>
        <p:spPr>
          <a:xfrm>
            <a:off x="3383280" y="1371600"/>
            <a:ext cx="384048" cy="384048"/>
          </a:xfrm>
          <a:prstGeom prst="ellipse">
            <a:avLst/>
          </a:prstGeom>
          <a:solidFill>
            <a:srgbClr val="5B5FC7"/>
          </a:solidFill>
          <a:ln w="12700">
            <a:solidFill>
              <a:srgbClr val="5B5FC7"/>
            </a:solidFill>
            <a:prstDash val="solid"/>
          </a:ln>
        </p:spPr>
      </p:sp>
      <p:sp>
        <p:nvSpPr>
          <p:cNvPr id="12" name="Text 10"/>
          <p:cNvSpPr txBox="1"/>
          <p:nvPr/>
        </p:nvSpPr>
        <p:spPr>
          <a:xfrm>
            <a:off x="3383280" y="1371600"/>
            <a:ext cx="384048" cy="384048"/>
          </a:xfrm>
          <a:prstGeom prst="rect">
            <a:avLst/>
          </a:prstGeom>
          <a:noFill/>
          <a:ln/>
        </p:spPr>
        <p:txBody>
          <a:bodyPr wrap="square" lIns="0" tIns="0" rIns="0" bIns="0" rtlCol="0" anchor="ctr"/>
          <a:lstStyle/>
          <a:p>
            <a:pPr algn="ctr" indent="0" marL="0">
              <a:buNone/>
            </a:pPr>
            <a:r>
              <a:rPr lang="en-US" sz="924" b="1" dirty="0">
                <a:solidFill>
                  <a:srgbClr val="FFFFFF"/>
                </a:solidFill>
                <a:latin typeface="Cambria" pitchFamily="34" charset="0"/>
                <a:ea typeface="Cambria" pitchFamily="34" charset="-122"/>
                <a:cs typeface="Cambria" pitchFamily="34" charset="-120"/>
              </a:rPr>
              <a:t>2</a:t>
            </a:r>
            <a:endParaRPr lang="en-US" sz="924" dirty="0"/>
          </a:p>
        </p:txBody>
      </p:sp>
      <p:sp>
        <p:nvSpPr>
          <p:cNvPr id="13" name="Text 11"/>
          <p:cNvSpPr txBox="1"/>
          <p:nvPr/>
        </p:nvSpPr>
        <p:spPr>
          <a:xfrm>
            <a:off x="3886200" y="1353312"/>
            <a:ext cx="1874520" cy="274320"/>
          </a:xfrm>
          <a:prstGeom prst="rect">
            <a:avLst/>
          </a:prstGeom>
          <a:noFill/>
          <a:ln/>
        </p:spPr>
        <p:txBody>
          <a:bodyPr wrap="square" lIns="0" tIns="0" rIns="0" bIns="0" rtlCol="0" anchor="ctr"/>
          <a:lstStyle/>
          <a:p>
            <a:pPr indent="0" marL="0">
              <a:buNone/>
            </a:pPr>
            <a:r>
              <a:rPr lang="en-US" sz="1500" b="1" dirty="0">
                <a:solidFill>
                  <a:srgbClr val="1D1F33"/>
                </a:solidFill>
                <a:latin typeface="Calibri" pitchFamily="34" charset="0"/>
                <a:ea typeface="Calibri" pitchFamily="34" charset="-122"/>
                <a:cs typeface="Calibri" pitchFamily="34" charset="-120"/>
              </a:rPr>
              <a:t>HoloAssist</a:t>
            </a:r>
            <a:endParaRPr lang="en-US" sz="1500" dirty="0"/>
          </a:p>
        </p:txBody>
      </p:sp>
      <p:sp>
        <p:nvSpPr>
          <p:cNvPr id="14" name="Text 12"/>
          <p:cNvSpPr txBox="1"/>
          <p:nvPr/>
        </p:nvSpPr>
        <p:spPr>
          <a:xfrm>
            <a:off x="3886200" y="1627632"/>
            <a:ext cx="1874520" cy="228600"/>
          </a:xfrm>
          <a:prstGeom prst="rect">
            <a:avLst/>
          </a:prstGeom>
          <a:noFill/>
          <a:ln/>
        </p:spPr>
        <p:txBody>
          <a:bodyPr wrap="square" lIns="0" tIns="0" rIns="0" bIns="0" rtlCol="0" anchor="ctr"/>
          <a:lstStyle/>
          <a:p>
            <a:pPr indent="0" marL="0">
              <a:buNone/>
            </a:pPr>
            <a:r>
              <a:rPr lang="en-US" sz="1050" dirty="0">
                <a:solidFill>
                  <a:srgbClr val="5B5FC7"/>
                </a:solidFill>
                <a:latin typeface="Calibri" pitchFamily="34" charset="0"/>
                <a:ea typeface="Calibri" pitchFamily="34" charset="-122"/>
                <a:cs typeface="Calibri" pitchFamily="34" charset="-120"/>
              </a:rPr>
              <a:t>Wang et al., ICCV 2023</a:t>
            </a:r>
            <a:endParaRPr lang="en-US" sz="1050" dirty="0"/>
          </a:p>
        </p:txBody>
      </p:sp>
      <p:sp>
        <p:nvSpPr>
          <p:cNvPr id="15" name="Text 13"/>
          <p:cNvSpPr txBox="1"/>
          <p:nvPr/>
        </p:nvSpPr>
        <p:spPr>
          <a:xfrm>
            <a:off x="3383280" y="1920240"/>
            <a:ext cx="2331720" cy="457200"/>
          </a:xfrm>
          <a:prstGeom prst="rect">
            <a:avLst/>
          </a:prstGeom>
          <a:noFill/>
          <a:ln/>
        </p:spPr>
        <p:txBody>
          <a:bodyPr wrap="square" lIns="0" tIns="0" rIns="0" bIns="0" rtlCol="0" anchor="ctr"/>
          <a:lstStyle/>
          <a:p>
            <a:pPr indent="0" marL="0">
              <a:buNone/>
            </a:pPr>
            <a:r>
              <a:rPr lang="en-US" sz="1200" dirty="0">
                <a:solidFill>
                  <a:srgbClr val="5E6280"/>
                </a:solidFill>
                <a:latin typeface="Calibri" pitchFamily="34" charset="0"/>
                <a:ea typeface="Calibri" pitchFamily="34" charset="-122"/>
                <a:cs typeface="Calibri" pitchFamily="34" charset="-120"/>
              </a:rPr>
              <a:t>HoloLens tasks with instructor interventions</a:t>
            </a:r>
            <a:endParaRPr lang="en-US" sz="1200" dirty="0"/>
          </a:p>
        </p:txBody>
      </p:sp>
      <p:sp>
        <p:nvSpPr>
          <p:cNvPr id="16" name="Shape 14"/>
          <p:cNvSpPr/>
          <p:nvPr/>
        </p:nvSpPr>
        <p:spPr>
          <a:xfrm>
            <a:off x="6035040" y="1234440"/>
            <a:ext cx="2606040" cy="1234440"/>
          </a:xfrm>
          <a:prstGeom prst="roundRect">
            <a:avLst>
              <a:gd name="adj" fmla="val 5926"/>
            </a:avLst>
          </a:prstGeom>
          <a:solidFill>
            <a:srgbClr val="F1F2F8"/>
          </a:solidFill>
          <a:ln w="12700">
            <a:solidFill>
              <a:srgbClr val="F1F2F8"/>
            </a:solidFill>
            <a:prstDash val="solid"/>
          </a:ln>
        </p:spPr>
      </p:sp>
      <p:sp>
        <p:nvSpPr>
          <p:cNvPr id="17" name="Shape 15"/>
          <p:cNvSpPr/>
          <p:nvPr/>
        </p:nvSpPr>
        <p:spPr>
          <a:xfrm>
            <a:off x="6172200" y="1371600"/>
            <a:ext cx="384048" cy="384048"/>
          </a:xfrm>
          <a:prstGeom prst="ellipse">
            <a:avLst/>
          </a:prstGeom>
          <a:solidFill>
            <a:srgbClr val="5B5FC7"/>
          </a:solidFill>
          <a:ln w="12700">
            <a:solidFill>
              <a:srgbClr val="5B5FC7"/>
            </a:solidFill>
            <a:prstDash val="solid"/>
          </a:ln>
        </p:spPr>
      </p:sp>
      <p:sp>
        <p:nvSpPr>
          <p:cNvPr id="18" name="Text 16"/>
          <p:cNvSpPr txBox="1"/>
          <p:nvPr/>
        </p:nvSpPr>
        <p:spPr>
          <a:xfrm>
            <a:off x="6172200" y="1371600"/>
            <a:ext cx="384048" cy="384048"/>
          </a:xfrm>
          <a:prstGeom prst="rect">
            <a:avLst/>
          </a:prstGeom>
          <a:noFill/>
          <a:ln/>
        </p:spPr>
        <p:txBody>
          <a:bodyPr wrap="square" lIns="0" tIns="0" rIns="0" bIns="0" rtlCol="0" anchor="ctr"/>
          <a:lstStyle/>
          <a:p>
            <a:pPr algn="ctr" indent="0" marL="0">
              <a:buNone/>
            </a:pPr>
            <a:r>
              <a:rPr lang="en-US" sz="924" b="1" dirty="0">
                <a:solidFill>
                  <a:srgbClr val="FFFFFF"/>
                </a:solidFill>
                <a:latin typeface="Cambria" pitchFamily="34" charset="0"/>
                <a:ea typeface="Cambria" pitchFamily="34" charset="-122"/>
                <a:cs typeface="Cambria" pitchFamily="34" charset="-120"/>
              </a:rPr>
              <a:t>3</a:t>
            </a:r>
            <a:endParaRPr lang="en-US" sz="924" dirty="0"/>
          </a:p>
        </p:txBody>
      </p:sp>
      <p:sp>
        <p:nvSpPr>
          <p:cNvPr id="19" name="Text 17"/>
          <p:cNvSpPr txBox="1"/>
          <p:nvPr/>
        </p:nvSpPr>
        <p:spPr>
          <a:xfrm>
            <a:off x="6675120" y="1353312"/>
            <a:ext cx="1874520" cy="274320"/>
          </a:xfrm>
          <a:prstGeom prst="rect">
            <a:avLst/>
          </a:prstGeom>
          <a:noFill/>
          <a:ln/>
        </p:spPr>
        <p:txBody>
          <a:bodyPr wrap="square" lIns="0" tIns="0" rIns="0" bIns="0" rtlCol="0" anchor="ctr"/>
          <a:lstStyle/>
          <a:p>
            <a:pPr indent="0" marL="0">
              <a:buNone/>
            </a:pPr>
            <a:r>
              <a:rPr lang="en-US" sz="1500" b="1" dirty="0">
                <a:solidFill>
                  <a:srgbClr val="1D1F33"/>
                </a:solidFill>
                <a:latin typeface="Calibri" pitchFamily="34" charset="0"/>
                <a:ea typeface="Calibri" pitchFamily="34" charset="-122"/>
                <a:cs typeface="Calibri" pitchFamily="34" charset="-120"/>
              </a:rPr>
              <a:t>IndustReal</a:t>
            </a:r>
            <a:endParaRPr lang="en-US" sz="1500" dirty="0"/>
          </a:p>
        </p:txBody>
      </p:sp>
      <p:sp>
        <p:nvSpPr>
          <p:cNvPr id="20" name="Text 18"/>
          <p:cNvSpPr txBox="1"/>
          <p:nvPr/>
        </p:nvSpPr>
        <p:spPr>
          <a:xfrm>
            <a:off x="6675120" y="1627632"/>
            <a:ext cx="1874520" cy="228600"/>
          </a:xfrm>
          <a:prstGeom prst="rect">
            <a:avLst/>
          </a:prstGeom>
          <a:noFill/>
          <a:ln/>
        </p:spPr>
        <p:txBody>
          <a:bodyPr wrap="square" lIns="0" tIns="0" rIns="0" bIns="0" rtlCol="0" anchor="ctr"/>
          <a:lstStyle/>
          <a:p>
            <a:pPr indent="0" marL="0">
              <a:buNone/>
            </a:pPr>
            <a:r>
              <a:rPr lang="en-US" sz="1050" dirty="0">
                <a:solidFill>
                  <a:srgbClr val="5B5FC7"/>
                </a:solidFill>
                <a:latin typeface="Calibri" pitchFamily="34" charset="0"/>
                <a:ea typeface="Calibri" pitchFamily="34" charset="-122"/>
                <a:cs typeface="Calibri" pitchFamily="34" charset="-120"/>
              </a:rPr>
              <a:t>Schoonbeek et al., WACV 2024</a:t>
            </a:r>
            <a:endParaRPr lang="en-US" sz="1050" dirty="0"/>
          </a:p>
        </p:txBody>
      </p:sp>
      <p:sp>
        <p:nvSpPr>
          <p:cNvPr id="21" name="Text 19"/>
          <p:cNvSpPr txBox="1"/>
          <p:nvPr/>
        </p:nvSpPr>
        <p:spPr>
          <a:xfrm>
            <a:off x="6172200" y="1920240"/>
            <a:ext cx="2331720" cy="457200"/>
          </a:xfrm>
          <a:prstGeom prst="rect">
            <a:avLst/>
          </a:prstGeom>
          <a:noFill/>
          <a:ln/>
        </p:spPr>
        <p:txBody>
          <a:bodyPr wrap="square" lIns="0" tIns="0" rIns="0" bIns="0" rtlCol="0" anchor="ctr"/>
          <a:lstStyle/>
          <a:p>
            <a:pPr indent="0" marL="0">
              <a:buNone/>
            </a:pPr>
            <a:r>
              <a:rPr lang="en-US" sz="1200" dirty="0">
                <a:solidFill>
                  <a:srgbClr val="5E6280"/>
                </a:solidFill>
                <a:latin typeface="Calibri" pitchFamily="34" charset="0"/>
                <a:ea typeface="Calibri" pitchFamily="34" charset="-122"/>
                <a:cs typeface="Calibri" pitchFamily="34" charset="-120"/>
              </a:rPr>
              <a:t>Industrial-style assembly; procedure step recognition</a:t>
            </a:r>
            <a:endParaRPr lang="en-US" sz="1200" dirty="0"/>
          </a:p>
        </p:txBody>
      </p:sp>
      <p:sp>
        <p:nvSpPr>
          <p:cNvPr id="22" name="Shape 20"/>
          <p:cNvSpPr/>
          <p:nvPr/>
        </p:nvSpPr>
        <p:spPr>
          <a:xfrm>
            <a:off x="457200" y="2651760"/>
            <a:ext cx="2606040" cy="1234440"/>
          </a:xfrm>
          <a:prstGeom prst="roundRect">
            <a:avLst>
              <a:gd name="adj" fmla="val 5926"/>
            </a:avLst>
          </a:prstGeom>
          <a:solidFill>
            <a:srgbClr val="F1F2F8"/>
          </a:solidFill>
          <a:ln w="12700">
            <a:solidFill>
              <a:srgbClr val="F1F2F8"/>
            </a:solidFill>
            <a:prstDash val="solid"/>
          </a:ln>
        </p:spPr>
      </p:sp>
      <p:sp>
        <p:nvSpPr>
          <p:cNvPr id="23" name="Shape 21"/>
          <p:cNvSpPr/>
          <p:nvPr/>
        </p:nvSpPr>
        <p:spPr>
          <a:xfrm>
            <a:off x="594360" y="2788920"/>
            <a:ext cx="384048" cy="384048"/>
          </a:xfrm>
          <a:prstGeom prst="ellipse">
            <a:avLst/>
          </a:prstGeom>
          <a:solidFill>
            <a:srgbClr val="5B5FC7"/>
          </a:solidFill>
          <a:ln w="12700">
            <a:solidFill>
              <a:srgbClr val="5B5FC7"/>
            </a:solidFill>
            <a:prstDash val="solid"/>
          </a:ln>
        </p:spPr>
      </p:sp>
      <p:sp>
        <p:nvSpPr>
          <p:cNvPr id="24" name="Text 22"/>
          <p:cNvSpPr txBox="1"/>
          <p:nvPr/>
        </p:nvSpPr>
        <p:spPr>
          <a:xfrm>
            <a:off x="594360" y="2788920"/>
            <a:ext cx="384048" cy="384048"/>
          </a:xfrm>
          <a:prstGeom prst="rect">
            <a:avLst/>
          </a:prstGeom>
          <a:noFill/>
          <a:ln/>
        </p:spPr>
        <p:txBody>
          <a:bodyPr wrap="square" lIns="0" tIns="0" rIns="0" bIns="0" rtlCol="0" anchor="ctr"/>
          <a:lstStyle/>
          <a:p>
            <a:pPr algn="ctr" indent="0" marL="0">
              <a:buNone/>
            </a:pPr>
            <a:r>
              <a:rPr lang="en-US" sz="924" b="1" dirty="0">
                <a:solidFill>
                  <a:srgbClr val="FFFFFF"/>
                </a:solidFill>
                <a:latin typeface="Cambria" pitchFamily="34" charset="0"/>
                <a:ea typeface="Cambria" pitchFamily="34" charset="-122"/>
                <a:cs typeface="Cambria" pitchFamily="34" charset="-120"/>
              </a:rPr>
              <a:t>4</a:t>
            </a:r>
            <a:endParaRPr lang="en-US" sz="924" dirty="0"/>
          </a:p>
        </p:txBody>
      </p:sp>
      <p:sp>
        <p:nvSpPr>
          <p:cNvPr id="25" name="Text 23"/>
          <p:cNvSpPr txBox="1"/>
          <p:nvPr/>
        </p:nvSpPr>
        <p:spPr>
          <a:xfrm>
            <a:off x="1097280" y="2770632"/>
            <a:ext cx="1874520" cy="274320"/>
          </a:xfrm>
          <a:prstGeom prst="rect">
            <a:avLst/>
          </a:prstGeom>
          <a:noFill/>
          <a:ln/>
        </p:spPr>
        <p:txBody>
          <a:bodyPr wrap="square" lIns="0" tIns="0" rIns="0" bIns="0" rtlCol="0" anchor="ctr"/>
          <a:lstStyle/>
          <a:p>
            <a:pPr indent="0" marL="0">
              <a:buNone/>
            </a:pPr>
            <a:r>
              <a:rPr lang="en-US" sz="1500" b="1" dirty="0">
                <a:solidFill>
                  <a:srgbClr val="1D1F33"/>
                </a:solidFill>
                <a:latin typeface="Calibri" pitchFamily="34" charset="0"/>
                <a:ea typeface="Calibri" pitchFamily="34" charset="-122"/>
                <a:cs typeface="Calibri" pitchFamily="34" charset="-120"/>
              </a:rPr>
              <a:t>EgoPER</a:t>
            </a:r>
            <a:endParaRPr lang="en-US" sz="1500" dirty="0"/>
          </a:p>
        </p:txBody>
      </p:sp>
      <p:sp>
        <p:nvSpPr>
          <p:cNvPr id="26" name="Text 24"/>
          <p:cNvSpPr txBox="1"/>
          <p:nvPr/>
        </p:nvSpPr>
        <p:spPr>
          <a:xfrm>
            <a:off x="1097280" y="3044952"/>
            <a:ext cx="1874520" cy="228600"/>
          </a:xfrm>
          <a:prstGeom prst="rect">
            <a:avLst/>
          </a:prstGeom>
          <a:noFill/>
          <a:ln/>
        </p:spPr>
        <p:txBody>
          <a:bodyPr wrap="square" lIns="0" tIns="0" rIns="0" bIns="0" rtlCol="0" anchor="ctr"/>
          <a:lstStyle/>
          <a:p>
            <a:pPr indent="0" marL="0">
              <a:buNone/>
            </a:pPr>
            <a:r>
              <a:rPr lang="en-US" sz="1050" dirty="0">
                <a:solidFill>
                  <a:srgbClr val="5B5FC7"/>
                </a:solidFill>
                <a:latin typeface="Calibri" pitchFamily="34" charset="0"/>
                <a:ea typeface="Calibri" pitchFamily="34" charset="-122"/>
                <a:cs typeface="Calibri" pitchFamily="34" charset="-120"/>
              </a:rPr>
              <a:t>Lee et al., CVPR 2024</a:t>
            </a:r>
            <a:endParaRPr lang="en-US" sz="1050" dirty="0"/>
          </a:p>
        </p:txBody>
      </p:sp>
      <p:sp>
        <p:nvSpPr>
          <p:cNvPr id="27" name="Text 25"/>
          <p:cNvSpPr txBox="1"/>
          <p:nvPr/>
        </p:nvSpPr>
        <p:spPr>
          <a:xfrm>
            <a:off x="594360" y="3337560"/>
            <a:ext cx="2331720" cy="457200"/>
          </a:xfrm>
          <a:prstGeom prst="rect">
            <a:avLst/>
          </a:prstGeom>
          <a:noFill/>
          <a:ln/>
        </p:spPr>
        <p:txBody>
          <a:bodyPr wrap="square" lIns="0" tIns="0" rIns="0" bIns="0" rtlCol="0" anchor="ctr"/>
          <a:lstStyle/>
          <a:p>
            <a:pPr indent="0" marL="0">
              <a:buNone/>
            </a:pPr>
            <a:r>
              <a:rPr lang="en-US" sz="1200" dirty="0">
                <a:solidFill>
                  <a:srgbClr val="5E6280"/>
                </a:solidFill>
                <a:latin typeface="Calibri" pitchFamily="34" charset="0"/>
                <a:ea typeface="Calibri" pitchFamily="34" charset="-122"/>
                <a:cs typeface="Calibri" pitchFamily="34" charset="-120"/>
              </a:rPr>
              <a:t>Egocentric cooking with planted errors</a:t>
            </a:r>
            <a:endParaRPr lang="en-US" sz="1200" dirty="0"/>
          </a:p>
        </p:txBody>
      </p:sp>
      <p:sp>
        <p:nvSpPr>
          <p:cNvPr id="28" name="Shape 26"/>
          <p:cNvSpPr/>
          <p:nvPr/>
        </p:nvSpPr>
        <p:spPr>
          <a:xfrm>
            <a:off x="3246120" y="2651760"/>
            <a:ext cx="2606040" cy="1234440"/>
          </a:xfrm>
          <a:prstGeom prst="roundRect">
            <a:avLst>
              <a:gd name="adj" fmla="val 5926"/>
            </a:avLst>
          </a:prstGeom>
          <a:solidFill>
            <a:srgbClr val="F1F2F8"/>
          </a:solidFill>
          <a:ln w="12700">
            <a:solidFill>
              <a:srgbClr val="F1F2F8"/>
            </a:solidFill>
            <a:prstDash val="solid"/>
          </a:ln>
        </p:spPr>
      </p:sp>
      <p:sp>
        <p:nvSpPr>
          <p:cNvPr id="29" name="Shape 27"/>
          <p:cNvSpPr/>
          <p:nvPr/>
        </p:nvSpPr>
        <p:spPr>
          <a:xfrm>
            <a:off x="3383280" y="2788920"/>
            <a:ext cx="384048" cy="384048"/>
          </a:xfrm>
          <a:prstGeom prst="ellipse">
            <a:avLst/>
          </a:prstGeom>
          <a:solidFill>
            <a:srgbClr val="5B5FC7"/>
          </a:solidFill>
          <a:ln w="12700">
            <a:solidFill>
              <a:srgbClr val="5B5FC7"/>
            </a:solidFill>
            <a:prstDash val="solid"/>
          </a:ln>
        </p:spPr>
      </p:sp>
      <p:sp>
        <p:nvSpPr>
          <p:cNvPr id="30" name="Text 28"/>
          <p:cNvSpPr txBox="1"/>
          <p:nvPr/>
        </p:nvSpPr>
        <p:spPr>
          <a:xfrm>
            <a:off x="3383280" y="2788920"/>
            <a:ext cx="384048" cy="384048"/>
          </a:xfrm>
          <a:prstGeom prst="rect">
            <a:avLst/>
          </a:prstGeom>
          <a:noFill/>
          <a:ln/>
        </p:spPr>
        <p:txBody>
          <a:bodyPr wrap="square" lIns="0" tIns="0" rIns="0" bIns="0" rtlCol="0" anchor="ctr"/>
          <a:lstStyle/>
          <a:p>
            <a:pPr algn="ctr" indent="0" marL="0">
              <a:buNone/>
            </a:pPr>
            <a:r>
              <a:rPr lang="en-US" sz="924" b="1" dirty="0">
                <a:solidFill>
                  <a:srgbClr val="FFFFFF"/>
                </a:solidFill>
                <a:latin typeface="Cambria" pitchFamily="34" charset="0"/>
                <a:ea typeface="Cambria" pitchFamily="34" charset="-122"/>
                <a:cs typeface="Cambria" pitchFamily="34" charset="-120"/>
              </a:rPr>
              <a:t>5</a:t>
            </a:r>
            <a:endParaRPr lang="en-US" sz="924" dirty="0"/>
          </a:p>
        </p:txBody>
      </p:sp>
      <p:sp>
        <p:nvSpPr>
          <p:cNvPr id="31" name="Text 29"/>
          <p:cNvSpPr txBox="1"/>
          <p:nvPr/>
        </p:nvSpPr>
        <p:spPr>
          <a:xfrm>
            <a:off x="3886200" y="2770632"/>
            <a:ext cx="1874520" cy="274320"/>
          </a:xfrm>
          <a:prstGeom prst="rect">
            <a:avLst/>
          </a:prstGeom>
          <a:noFill/>
          <a:ln/>
        </p:spPr>
        <p:txBody>
          <a:bodyPr wrap="square" lIns="0" tIns="0" rIns="0" bIns="0" rtlCol="0" anchor="ctr"/>
          <a:lstStyle/>
          <a:p>
            <a:pPr indent="0" marL="0">
              <a:buNone/>
            </a:pPr>
            <a:r>
              <a:rPr lang="en-US" sz="1500" b="1" dirty="0">
                <a:solidFill>
                  <a:srgbClr val="1D1F33"/>
                </a:solidFill>
                <a:latin typeface="Calibri" pitchFamily="34" charset="0"/>
                <a:ea typeface="Calibri" pitchFamily="34" charset="-122"/>
                <a:cs typeface="Calibri" pitchFamily="34" charset="-120"/>
              </a:rPr>
              <a:t>CaptainCook4D</a:t>
            </a:r>
            <a:endParaRPr lang="en-US" sz="1500" dirty="0"/>
          </a:p>
        </p:txBody>
      </p:sp>
      <p:sp>
        <p:nvSpPr>
          <p:cNvPr id="32" name="Text 30"/>
          <p:cNvSpPr txBox="1"/>
          <p:nvPr/>
        </p:nvSpPr>
        <p:spPr>
          <a:xfrm>
            <a:off x="3886200" y="3044952"/>
            <a:ext cx="1874520" cy="228600"/>
          </a:xfrm>
          <a:prstGeom prst="rect">
            <a:avLst/>
          </a:prstGeom>
          <a:noFill/>
          <a:ln/>
        </p:spPr>
        <p:txBody>
          <a:bodyPr wrap="square" lIns="0" tIns="0" rIns="0" bIns="0" rtlCol="0" anchor="ctr"/>
          <a:lstStyle/>
          <a:p>
            <a:pPr indent="0" marL="0">
              <a:buNone/>
            </a:pPr>
            <a:r>
              <a:rPr lang="en-US" sz="1050" dirty="0">
                <a:solidFill>
                  <a:srgbClr val="5B5FC7"/>
                </a:solidFill>
                <a:latin typeface="Calibri" pitchFamily="34" charset="0"/>
                <a:ea typeface="Calibri" pitchFamily="34" charset="-122"/>
                <a:cs typeface="Calibri" pitchFamily="34" charset="-120"/>
              </a:rPr>
              <a:t>Peddi et al., NeurIPS 2024</a:t>
            </a:r>
            <a:endParaRPr lang="en-US" sz="1050" dirty="0"/>
          </a:p>
        </p:txBody>
      </p:sp>
      <p:sp>
        <p:nvSpPr>
          <p:cNvPr id="33" name="Text 31"/>
          <p:cNvSpPr txBox="1"/>
          <p:nvPr/>
        </p:nvSpPr>
        <p:spPr>
          <a:xfrm>
            <a:off x="3383280" y="3337560"/>
            <a:ext cx="2331720" cy="457200"/>
          </a:xfrm>
          <a:prstGeom prst="rect">
            <a:avLst/>
          </a:prstGeom>
          <a:noFill/>
          <a:ln/>
        </p:spPr>
        <p:txBody>
          <a:bodyPr wrap="square" lIns="0" tIns="0" rIns="0" bIns="0" rtlCol="0" anchor="ctr"/>
          <a:lstStyle/>
          <a:p>
            <a:pPr indent="0" marL="0">
              <a:buNone/>
            </a:pPr>
            <a:r>
              <a:rPr lang="en-US" sz="1200" dirty="0">
                <a:solidFill>
                  <a:srgbClr val="5E6280"/>
                </a:solidFill>
                <a:latin typeface="Calibri" pitchFamily="34" charset="0"/>
                <a:ea typeface="Calibri" pitchFamily="34" charset="-122"/>
                <a:cs typeface="Calibri" pitchFamily="34" charset="-120"/>
              </a:rPr>
              <a:t>Recipe errors across 4D recordings</a:t>
            </a:r>
            <a:endParaRPr lang="en-US" sz="1200" dirty="0"/>
          </a:p>
        </p:txBody>
      </p:sp>
      <p:sp>
        <p:nvSpPr>
          <p:cNvPr id="34" name="Shape 32"/>
          <p:cNvSpPr/>
          <p:nvPr/>
        </p:nvSpPr>
        <p:spPr>
          <a:xfrm>
            <a:off x="6035040" y="2651760"/>
            <a:ext cx="2606040" cy="1234440"/>
          </a:xfrm>
          <a:prstGeom prst="roundRect">
            <a:avLst>
              <a:gd name="adj" fmla="val 5926"/>
            </a:avLst>
          </a:prstGeom>
          <a:solidFill>
            <a:srgbClr val="F1F2F8"/>
          </a:solidFill>
          <a:ln w="12700">
            <a:solidFill>
              <a:srgbClr val="F1F2F8"/>
            </a:solidFill>
            <a:prstDash val="solid"/>
          </a:ln>
        </p:spPr>
      </p:sp>
      <p:sp>
        <p:nvSpPr>
          <p:cNvPr id="35" name="Shape 33"/>
          <p:cNvSpPr/>
          <p:nvPr/>
        </p:nvSpPr>
        <p:spPr>
          <a:xfrm>
            <a:off x="6172200" y="2788920"/>
            <a:ext cx="384048" cy="384048"/>
          </a:xfrm>
          <a:prstGeom prst="ellipse">
            <a:avLst/>
          </a:prstGeom>
          <a:solidFill>
            <a:srgbClr val="5B5FC7"/>
          </a:solidFill>
          <a:ln w="12700">
            <a:solidFill>
              <a:srgbClr val="5B5FC7"/>
            </a:solidFill>
            <a:prstDash val="solid"/>
          </a:ln>
        </p:spPr>
      </p:sp>
      <p:sp>
        <p:nvSpPr>
          <p:cNvPr id="36" name="Text 34"/>
          <p:cNvSpPr txBox="1"/>
          <p:nvPr/>
        </p:nvSpPr>
        <p:spPr>
          <a:xfrm>
            <a:off x="6172200" y="2788920"/>
            <a:ext cx="384048" cy="384048"/>
          </a:xfrm>
          <a:prstGeom prst="rect">
            <a:avLst/>
          </a:prstGeom>
          <a:noFill/>
          <a:ln/>
        </p:spPr>
        <p:txBody>
          <a:bodyPr wrap="square" lIns="0" tIns="0" rIns="0" bIns="0" rtlCol="0" anchor="ctr"/>
          <a:lstStyle/>
          <a:p>
            <a:pPr algn="ctr" indent="0" marL="0">
              <a:buNone/>
            </a:pPr>
            <a:r>
              <a:rPr lang="en-US" sz="924" b="1" dirty="0">
                <a:solidFill>
                  <a:srgbClr val="FFFFFF"/>
                </a:solidFill>
                <a:latin typeface="Cambria" pitchFamily="34" charset="0"/>
                <a:ea typeface="Cambria" pitchFamily="34" charset="-122"/>
                <a:cs typeface="Cambria" pitchFamily="34" charset="-120"/>
              </a:rPr>
              <a:t>6</a:t>
            </a:r>
            <a:endParaRPr lang="en-US" sz="924" dirty="0"/>
          </a:p>
        </p:txBody>
      </p:sp>
      <p:sp>
        <p:nvSpPr>
          <p:cNvPr id="37" name="Text 35"/>
          <p:cNvSpPr txBox="1"/>
          <p:nvPr/>
        </p:nvSpPr>
        <p:spPr>
          <a:xfrm>
            <a:off x="6675120" y="2770632"/>
            <a:ext cx="1874520" cy="274320"/>
          </a:xfrm>
          <a:prstGeom prst="rect">
            <a:avLst/>
          </a:prstGeom>
          <a:noFill/>
          <a:ln/>
        </p:spPr>
        <p:txBody>
          <a:bodyPr wrap="square" lIns="0" tIns="0" rIns="0" bIns="0" rtlCol="0" anchor="ctr"/>
          <a:lstStyle/>
          <a:p>
            <a:pPr indent="0" marL="0">
              <a:buNone/>
            </a:pPr>
            <a:r>
              <a:rPr lang="en-US" sz="1500" b="1" dirty="0">
                <a:solidFill>
                  <a:srgbClr val="1D1F33"/>
                </a:solidFill>
                <a:latin typeface="Calibri" pitchFamily="34" charset="0"/>
                <a:ea typeface="Calibri" pitchFamily="34" charset="-122"/>
                <a:cs typeface="Calibri" pitchFamily="34" charset="-120"/>
              </a:rPr>
              <a:t>Ego4D</a:t>
            </a:r>
            <a:endParaRPr lang="en-US" sz="1500" dirty="0"/>
          </a:p>
        </p:txBody>
      </p:sp>
      <p:sp>
        <p:nvSpPr>
          <p:cNvPr id="38" name="Text 36"/>
          <p:cNvSpPr txBox="1"/>
          <p:nvPr/>
        </p:nvSpPr>
        <p:spPr>
          <a:xfrm>
            <a:off x="6675120" y="3044952"/>
            <a:ext cx="1874520" cy="228600"/>
          </a:xfrm>
          <a:prstGeom prst="rect">
            <a:avLst/>
          </a:prstGeom>
          <a:noFill/>
          <a:ln/>
        </p:spPr>
        <p:txBody>
          <a:bodyPr wrap="square" lIns="0" tIns="0" rIns="0" bIns="0" rtlCol="0" anchor="ctr"/>
          <a:lstStyle/>
          <a:p>
            <a:pPr indent="0" marL="0">
              <a:buNone/>
            </a:pPr>
            <a:r>
              <a:rPr lang="en-US" sz="1050" dirty="0">
                <a:solidFill>
                  <a:srgbClr val="5B5FC7"/>
                </a:solidFill>
                <a:latin typeface="Calibri" pitchFamily="34" charset="0"/>
                <a:ea typeface="Calibri" pitchFamily="34" charset="-122"/>
                <a:cs typeface="Calibri" pitchFamily="34" charset="-120"/>
              </a:rPr>
              <a:t>Grauman et al., CVPR 2022</a:t>
            </a:r>
            <a:endParaRPr lang="en-US" sz="1050" dirty="0"/>
          </a:p>
        </p:txBody>
      </p:sp>
      <p:sp>
        <p:nvSpPr>
          <p:cNvPr id="39" name="Text 37"/>
          <p:cNvSpPr txBox="1"/>
          <p:nvPr/>
        </p:nvSpPr>
        <p:spPr>
          <a:xfrm>
            <a:off x="6172200" y="3337560"/>
            <a:ext cx="2331720" cy="457200"/>
          </a:xfrm>
          <a:prstGeom prst="rect">
            <a:avLst/>
          </a:prstGeom>
          <a:noFill/>
          <a:ln/>
        </p:spPr>
        <p:txBody>
          <a:bodyPr wrap="square" lIns="0" tIns="0" rIns="0" bIns="0" rtlCol="0" anchor="ctr"/>
          <a:lstStyle/>
          <a:p>
            <a:pPr indent="0" marL="0">
              <a:buNone/>
            </a:pPr>
            <a:r>
              <a:rPr lang="en-US" sz="1200" dirty="0">
                <a:solidFill>
                  <a:srgbClr val="5E6280"/>
                </a:solidFill>
                <a:latin typeface="Calibri" pitchFamily="34" charset="0"/>
                <a:ea typeface="Calibri" pitchFamily="34" charset="-122"/>
                <a:cs typeface="Calibri" pitchFamily="34" charset="-120"/>
              </a:rPr>
              <a:t>Large first-person video corpus</a:t>
            </a:r>
            <a:endParaRPr lang="en-US" sz="1200" dirty="0"/>
          </a:p>
        </p:txBody>
      </p:sp>
      <p:sp>
        <p:nvSpPr>
          <p:cNvPr id="40" name="Shape 38"/>
          <p:cNvSpPr/>
          <p:nvPr/>
        </p:nvSpPr>
        <p:spPr>
          <a:xfrm>
            <a:off x="457200" y="4114800"/>
            <a:ext cx="8229600" cy="502920"/>
          </a:xfrm>
          <a:prstGeom prst="roundRect">
            <a:avLst>
              <a:gd name="adj" fmla="val 14545"/>
            </a:avLst>
          </a:prstGeom>
          <a:solidFill>
            <a:srgbClr val="15172E"/>
          </a:solidFill>
          <a:ln w="12700">
            <a:solidFill>
              <a:srgbClr val="15172E"/>
            </a:solidFill>
            <a:prstDash val="solid"/>
          </a:ln>
        </p:spPr>
      </p:sp>
      <p:sp>
        <p:nvSpPr>
          <p:cNvPr id="41" name="Text 39"/>
          <p:cNvSpPr txBox="1"/>
          <p:nvPr/>
        </p:nvSpPr>
        <p:spPr>
          <a:xfrm>
            <a:off x="685800" y="4114800"/>
            <a:ext cx="7772400" cy="5029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Common thread: one domain each, and methods need labelled video of that task.</a:t>
            </a:r>
            <a:endParaRPr lang="en-US" sz="1250" dirty="0"/>
          </a:p>
        </p:txBody>
      </p:sp>
      <p:sp>
        <p:nvSpPr>
          <p:cNvPr id="42" name="Text 40"/>
          <p:cNvSpPr txBox="1"/>
          <p:nvPr/>
        </p:nvSpPr>
        <p:spPr>
          <a:xfrm>
            <a:off x="6400800" y="4754880"/>
            <a:ext cx="2286000" cy="228600"/>
          </a:xfrm>
          <a:prstGeom prst="rect">
            <a:avLst/>
          </a:prstGeom>
          <a:noFill/>
          <a:ln/>
        </p:spPr>
        <p:txBody>
          <a:bodyPr wrap="square" lIns="0" tIns="0" rIns="0" bIns="0" rtlCol="0" anchor="ctr"/>
          <a:lstStyle/>
          <a:p>
            <a:pPr algn="r" indent="0" marL="0">
              <a:buNone/>
            </a:pPr>
            <a:r>
              <a:rPr lang="en-US" sz="1000" i="1" dirty="0">
                <a:solidFill>
                  <a:srgbClr val="5E6280"/>
                </a:solidFill>
                <a:latin typeface="Calibri" pitchFamily="34" charset="0"/>
                <a:ea typeface="Calibri" pitchFamily="34" charset="-122"/>
                <a:cs typeface="Calibri" pitchFamily="34" charset="-120"/>
              </a:rPr>
              <a:t>Megh Mavani</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28600"/>
          </a:xfrm>
          <a:prstGeom prst="rect">
            <a:avLst/>
          </a:prstGeom>
          <a:noFill/>
          <a:ln/>
        </p:spPr>
        <p:txBody>
          <a:bodyPr wrap="square" lIns="0" tIns="0" rIns="0" bIns="0" rtlCol="0" anchor="ctr"/>
          <a:lstStyle/>
          <a:p>
            <a:pPr indent="0" marL="0">
              <a:buNone/>
            </a:pPr>
            <a:r>
              <a:rPr lang="en-US" sz="1100" b="1" spc="200" kern="0" dirty="0">
                <a:solidFill>
                  <a:srgbClr val="5B5FC7"/>
                </a:solidFill>
                <a:latin typeface="Calibri" pitchFamily="34" charset="0"/>
                <a:ea typeface="Calibri" pitchFamily="34" charset="-122"/>
                <a:cs typeface="Calibri" pitchFamily="34" charset="-120"/>
              </a:rPr>
              <a:t>LITERATURE SURVEY · 2 OF 4</a:t>
            </a:r>
            <a:endParaRPr lang="en-US" sz="1100" dirty="0"/>
          </a:p>
        </p:txBody>
      </p:sp>
      <p:sp>
        <p:nvSpPr>
          <p:cNvPr id="3" name="Text 1"/>
          <p:cNvSpPr txBox="1"/>
          <p:nvPr/>
        </p:nvSpPr>
        <p:spPr>
          <a:xfrm>
            <a:off x="457200" y="502920"/>
            <a:ext cx="8229600" cy="594360"/>
          </a:xfrm>
          <a:prstGeom prst="rect">
            <a:avLst/>
          </a:prstGeom>
          <a:noFill/>
          <a:ln/>
        </p:spPr>
        <p:txBody>
          <a:bodyPr wrap="square" lIns="0" tIns="0" rIns="0" bIns="0" rtlCol="0" anchor="ctr"/>
          <a:lstStyle/>
          <a:p>
            <a:pPr indent="0" marL="0">
              <a:buNone/>
            </a:pPr>
            <a:r>
              <a:rPr lang="en-US" sz="3000" b="1" dirty="0">
                <a:solidFill>
                  <a:srgbClr val="15172E"/>
                </a:solidFill>
                <a:latin typeface="Cambria" pitchFamily="34" charset="0"/>
                <a:ea typeface="Cambria" pitchFamily="34" charset="-122"/>
                <a:cs typeface="Cambria" pitchFamily="34" charset="-120"/>
              </a:rPr>
              <a:t>Recognising steps and task structure</a:t>
            </a:r>
            <a:endParaRPr lang="en-US" sz="3000" dirty="0"/>
          </a:p>
        </p:txBody>
      </p:sp>
      <p:sp>
        <p:nvSpPr>
          <p:cNvPr id="4" name="Shape 2"/>
          <p:cNvSpPr/>
          <p:nvPr/>
        </p:nvSpPr>
        <p:spPr>
          <a:xfrm>
            <a:off x="457200" y="1280160"/>
            <a:ext cx="457200" cy="457200"/>
          </a:xfrm>
          <a:prstGeom prst="ellipse">
            <a:avLst/>
          </a:prstGeom>
          <a:solidFill>
            <a:srgbClr val="5B5FC7"/>
          </a:solidFill>
          <a:ln w="12700">
            <a:solidFill>
              <a:srgbClr val="5B5FC7"/>
            </a:solidFill>
            <a:prstDash val="solid"/>
          </a:ln>
        </p:spPr>
      </p:sp>
      <p:sp>
        <p:nvSpPr>
          <p:cNvPr id="5" name="Text 3"/>
          <p:cNvSpPr txBox="1"/>
          <p:nvPr/>
        </p:nvSpPr>
        <p:spPr>
          <a:xfrm>
            <a:off x="457200" y="1280160"/>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7</a:t>
            </a:r>
            <a:endParaRPr lang="en-US" sz="1100" dirty="0"/>
          </a:p>
        </p:txBody>
      </p:sp>
      <p:sp>
        <p:nvSpPr>
          <p:cNvPr id="6" name="Text 4"/>
          <p:cNvSpPr txBox="1"/>
          <p:nvPr/>
        </p:nvSpPr>
        <p:spPr>
          <a:xfrm>
            <a:off x="1051560" y="1234440"/>
            <a:ext cx="2743200" cy="292608"/>
          </a:xfrm>
          <a:prstGeom prst="rect">
            <a:avLst/>
          </a:prstGeom>
          <a:noFill/>
          <a:ln/>
        </p:spPr>
        <p:txBody>
          <a:bodyPr wrap="square" lIns="0" tIns="0" rIns="0" bIns="0" rtlCol="0" anchor="ctr"/>
          <a:lstStyle/>
          <a:p>
            <a:pPr indent="0" marL="0">
              <a:buNone/>
            </a:pPr>
            <a:r>
              <a:rPr lang="en-US" sz="1500" b="1" dirty="0">
                <a:solidFill>
                  <a:srgbClr val="1D1F33"/>
                </a:solidFill>
                <a:latin typeface="Calibri" pitchFamily="34" charset="0"/>
                <a:ea typeface="Calibri" pitchFamily="34" charset="-122"/>
                <a:cs typeface="Calibri" pitchFamily="34" charset="-120"/>
              </a:rPr>
              <a:t>MS-TCN</a:t>
            </a:r>
            <a:endParaRPr lang="en-US" sz="1500" dirty="0"/>
          </a:p>
        </p:txBody>
      </p:sp>
      <p:sp>
        <p:nvSpPr>
          <p:cNvPr id="7" name="Text 5"/>
          <p:cNvSpPr txBox="1"/>
          <p:nvPr/>
        </p:nvSpPr>
        <p:spPr>
          <a:xfrm>
            <a:off x="1051560" y="1527048"/>
            <a:ext cx="2743200" cy="256032"/>
          </a:xfrm>
          <a:prstGeom prst="rect">
            <a:avLst/>
          </a:prstGeom>
          <a:noFill/>
          <a:ln/>
        </p:spPr>
        <p:txBody>
          <a:bodyPr wrap="square" lIns="0" tIns="0" rIns="0" bIns="0" rtlCol="0" anchor="ctr"/>
          <a:lstStyle/>
          <a:p>
            <a:pPr indent="0" marL="0">
              <a:buNone/>
            </a:pPr>
            <a:r>
              <a:rPr lang="en-US" sz="1100" dirty="0">
                <a:solidFill>
                  <a:srgbClr val="5B5FC7"/>
                </a:solidFill>
                <a:latin typeface="Calibri" pitchFamily="34" charset="0"/>
                <a:ea typeface="Calibri" pitchFamily="34" charset="-122"/>
                <a:cs typeface="Calibri" pitchFamily="34" charset="-120"/>
              </a:rPr>
              <a:t>Farha &amp; Gall, CVPR 2019</a:t>
            </a:r>
            <a:endParaRPr lang="en-US" sz="1100" dirty="0"/>
          </a:p>
        </p:txBody>
      </p:sp>
      <p:sp>
        <p:nvSpPr>
          <p:cNvPr id="8" name="Text 6"/>
          <p:cNvSpPr txBox="1"/>
          <p:nvPr/>
        </p:nvSpPr>
        <p:spPr>
          <a:xfrm>
            <a:off x="3840480" y="1234440"/>
            <a:ext cx="2286000" cy="594360"/>
          </a:xfrm>
          <a:prstGeom prst="rect">
            <a:avLst/>
          </a:prstGeom>
          <a:noFill/>
          <a:ln/>
        </p:spPr>
        <p:txBody>
          <a:bodyPr wrap="square" lIns="0" tIns="0" rIns="0" bIns="0" rtlCol="0" anchor="ctr"/>
          <a:lstStyle/>
          <a:p>
            <a:pPr indent="0" marL="0">
              <a:buNone/>
            </a:pPr>
            <a:r>
              <a:rPr lang="en-US" sz="1200" dirty="0">
                <a:solidFill>
                  <a:srgbClr val="5E6280"/>
                </a:solidFill>
                <a:latin typeface="Calibri" pitchFamily="34" charset="0"/>
                <a:ea typeface="Calibri" pitchFamily="34" charset="-122"/>
                <a:cs typeface="Calibri" pitchFamily="34" charset="-120"/>
              </a:rPr>
              <a:t>Stacked temporal convolutions label every frame with its step</a:t>
            </a:r>
            <a:endParaRPr lang="en-US" sz="1200" dirty="0"/>
          </a:p>
        </p:txBody>
      </p:sp>
      <p:sp>
        <p:nvSpPr>
          <p:cNvPr id="9" name="Shape 7"/>
          <p:cNvSpPr/>
          <p:nvPr/>
        </p:nvSpPr>
        <p:spPr>
          <a:xfrm>
            <a:off x="457200" y="1993392"/>
            <a:ext cx="457200" cy="457200"/>
          </a:xfrm>
          <a:prstGeom prst="ellipse">
            <a:avLst/>
          </a:prstGeom>
          <a:solidFill>
            <a:srgbClr val="5B5FC7"/>
          </a:solidFill>
          <a:ln w="12700">
            <a:solidFill>
              <a:srgbClr val="5B5FC7"/>
            </a:solidFill>
            <a:prstDash val="solid"/>
          </a:ln>
        </p:spPr>
      </p:sp>
      <p:sp>
        <p:nvSpPr>
          <p:cNvPr id="10" name="Text 8"/>
          <p:cNvSpPr txBox="1"/>
          <p:nvPr/>
        </p:nvSpPr>
        <p:spPr>
          <a:xfrm>
            <a:off x="457200" y="1993392"/>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8</a:t>
            </a:r>
            <a:endParaRPr lang="en-US" sz="1100" dirty="0"/>
          </a:p>
        </p:txBody>
      </p:sp>
      <p:sp>
        <p:nvSpPr>
          <p:cNvPr id="11" name="Text 9"/>
          <p:cNvSpPr txBox="1"/>
          <p:nvPr/>
        </p:nvSpPr>
        <p:spPr>
          <a:xfrm>
            <a:off x="1051560" y="1947672"/>
            <a:ext cx="2743200" cy="292608"/>
          </a:xfrm>
          <a:prstGeom prst="rect">
            <a:avLst/>
          </a:prstGeom>
          <a:noFill/>
          <a:ln/>
        </p:spPr>
        <p:txBody>
          <a:bodyPr wrap="square" lIns="0" tIns="0" rIns="0" bIns="0" rtlCol="0" anchor="ctr"/>
          <a:lstStyle/>
          <a:p>
            <a:pPr indent="0" marL="0">
              <a:buNone/>
            </a:pPr>
            <a:r>
              <a:rPr lang="en-US" sz="1500" b="1" dirty="0">
                <a:solidFill>
                  <a:srgbClr val="1D1F33"/>
                </a:solidFill>
                <a:latin typeface="Calibri" pitchFamily="34" charset="0"/>
                <a:ea typeface="Calibri" pitchFamily="34" charset="-122"/>
                <a:cs typeface="Calibri" pitchFamily="34" charset="-120"/>
              </a:rPr>
              <a:t>ASFormer</a:t>
            </a:r>
            <a:endParaRPr lang="en-US" sz="1500" dirty="0"/>
          </a:p>
        </p:txBody>
      </p:sp>
      <p:sp>
        <p:nvSpPr>
          <p:cNvPr id="12" name="Text 10"/>
          <p:cNvSpPr txBox="1"/>
          <p:nvPr/>
        </p:nvSpPr>
        <p:spPr>
          <a:xfrm>
            <a:off x="1051560" y="2240280"/>
            <a:ext cx="2743200" cy="256032"/>
          </a:xfrm>
          <a:prstGeom prst="rect">
            <a:avLst/>
          </a:prstGeom>
          <a:noFill/>
          <a:ln/>
        </p:spPr>
        <p:txBody>
          <a:bodyPr wrap="square" lIns="0" tIns="0" rIns="0" bIns="0" rtlCol="0" anchor="ctr"/>
          <a:lstStyle/>
          <a:p>
            <a:pPr indent="0" marL="0">
              <a:buNone/>
            </a:pPr>
            <a:r>
              <a:rPr lang="en-US" sz="1100" dirty="0">
                <a:solidFill>
                  <a:srgbClr val="5B5FC7"/>
                </a:solidFill>
                <a:latin typeface="Calibri" pitchFamily="34" charset="0"/>
                <a:ea typeface="Calibri" pitchFamily="34" charset="-122"/>
                <a:cs typeface="Calibri" pitchFamily="34" charset="-120"/>
              </a:rPr>
              <a:t>Yi et al., BMVC 2021</a:t>
            </a:r>
            <a:endParaRPr lang="en-US" sz="1100" dirty="0"/>
          </a:p>
        </p:txBody>
      </p:sp>
      <p:sp>
        <p:nvSpPr>
          <p:cNvPr id="13" name="Text 11"/>
          <p:cNvSpPr txBox="1"/>
          <p:nvPr/>
        </p:nvSpPr>
        <p:spPr>
          <a:xfrm>
            <a:off x="3840480" y="1947672"/>
            <a:ext cx="2286000" cy="594360"/>
          </a:xfrm>
          <a:prstGeom prst="rect">
            <a:avLst/>
          </a:prstGeom>
          <a:noFill/>
          <a:ln/>
        </p:spPr>
        <p:txBody>
          <a:bodyPr wrap="square" lIns="0" tIns="0" rIns="0" bIns="0" rtlCol="0" anchor="ctr"/>
          <a:lstStyle/>
          <a:p>
            <a:pPr indent="0" marL="0">
              <a:buNone/>
            </a:pPr>
            <a:r>
              <a:rPr lang="en-US" sz="1200" dirty="0">
                <a:solidFill>
                  <a:srgbClr val="5E6280"/>
                </a:solidFill>
                <a:latin typeface="Calibri" pitchFamily="34" charset="0"/>
                <a:ea typeface="Calibri" pitchFamily="34" charset="-122"/>
                <a:cs typeface="Calibri" pitchFamily="34" charset="-120"/>
              </a:rPr>
              <a:t>Transformer for temporal action segmentation</a:t>
            </a:r>
            <a:endParaRPr lang="en-US" sz="1200" dirty="0"/>
          </a:p>
        </p:txBody>
      </p:sp>
      <p:sp>
        <p:nvSpPr>
          <p:cNvPr id="14" name="Shape 12"/>
          <p:cNvSpPr/>
          <p:nvPr/>
        </p:nvSpPr>
        <p:spPr>
          <a:xfrm>
            <a:off x="457200" y="2706624"/>
            <a:ext cx="457200" cy="457200"/>
          </a:xfrm>
          <a:prstGeom prst="ellipse">
            <a:avLst/>
          </a:prstGeom>
          <a:solidFill>
            <a:srgbClr val="5B5FC7"/>
          </a:solidFill>
          <a:ln w="12700">
            <a:solidFill>
              <a:srgbClr val="5B5FC7"/>
            </a:solidFill>
            <a:prstDash val="solid"/>
          </a:ln>
        </p:spPr>
      </p:sp>
      <p:sp>
        <p:nvSpPr>
          <p:cNvPr id="15" name="Text 13"/>
          <p:cNvSpPr txBox="1"/>
          <p:nvPr/>
        </p:nvSpPr>
        <p:spPr>
          <a:xfrm>
            <a:off x="457200" y="2706624"/>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9</a:t>
            </a:r>
            <a:endParaRPr lang="en-US" sz="1100" dirty="0"/>
          </a:p>
        </p:txBody>
      </p:sp>
      <p:sp>
        <p:nvSpPr>
          <p:cNvPr id="16" name="Text 14"/>
          <p:cNvSpPr txBox="1"/>
          <p:nvPr/>
        </p:nvSpPr>
        <p:spPr>
          <a:xfrm>
            <a:off x="1051560" y="2660904"/>
            <a:ext cx="2743200" cy="292608"/>
          </a:xfrm>
          <a:prstGeom prst="rect">
            <a:avLst/>
          </a:prstGeom>
          <a:noFill/>
          <a:ln/>
        </p:spPr>
        <p:txBody>
          <a:bodyPr wrap="square" lIns="0" tIns="0" rIns="0" bIns="0" rtlCol="0" anchor="ctr"/>
          <a:lstStyle/>
          <a:p>
            <a:pPr indent="0" marL="0">
              <a:buNone/>
            </a:pPr>
            <a:r>
              <a:rPr lang="en-US" sz="1500" b="1" dirty="0">
                <a:solidFill>
                  <a:srgbClr val="1D1F33"/>
                </a:solidFill>
                <a:latin typeface="Calibri" pitchFamily="34" charset="0"/>
                <a:ea typeface="Calibri" pitchFamily="34" charset="-122"/>
                <a:cs typeface="Calibri" pitchFamily="34" charset="-120"/>
              </a:rPr>
              <a:t>Paprika</a:t>
            </a:r>
            <a:endParaRPr lang="en-US" sz="1500" dirty="0"/>
          </a:p>
        </p:txBody>
      </p:sp>
      <p:sp>
        <p:nvSpPr>
          <p:cNvPr id="17" name="Text 15"/>
          <p:cNvSpPr txBox="1"/>
          <p:nvPr/>
        </p:nvSpPr>
        <p:spPr>
          <a:xfrm>
            <a:off x="1051560" y="2953512"/>
            <a:ext cx="2743200" cy="256032"/>
          </a:xfrm>
          <a:prstGeom prst="rect">
            <a:avLst/>
          </a:prstGeom>
          <a:noFill/>
          <a:ln/>
        </p:spPr>
        <p:txBody>
          <a:bodyPr wrap="square" lIns="0" tIns="0" rIns="0" bIns="0" rtlCol="0" anchor="ctr"/>
          <a:lstStyle/>
          <a:p>
            <a:pPr indent="0" marL="0">
              <a:buNone/>
            </a:pPr>
            <a:r>
              <a:rPr lang="en-US" sz="1100" dirty="0">
                <a:solidFill>
                  <a:srgbClr val="5B5FC7"/>
                </a:solidFill>
                <a:latin typeface="Calibri" pitchFamily="34" charset="0"/>
                <a:ea typeface="Calibri" pitchFamily="34" charset="-122"/>
                <a:cs typeface="Calibri" pitchFamily="34" charset="-120"/>
              </a:rPr>
              <a:t>Zhou et al., CVPR 2023</a:t>
            </a:r>
            <a:endParaRPr lang="en-US" sz="1100" dirty="0"/>
          </a:p>
        </p:txBody>
      </p:sp>
      <p:sp>
        <p:nvSpPr>
          <p:cNvPr id="18" name="Text 16"/>
          <p:cNvSpPr txBox="1"/>
          <p:nvPr/>
        </p:nvSpPr>
        <p:spPr>
          <a:xfrm>
            <a:off x="3840480" y="2660904"/>
            <a:ext cx="2286000" cy="594360"/>
          </a:xfrm>
          <a:prstGeom prst="rect">
            <a:avLst/>
          </a:prstGeom>
          <a:noFill/>
          <a:ln/>
        </p:spPr>
        <p:txBody>
          <a:bodyPr wrap="square" lIns="0" tIns="0" rIns="0" bIns="0" rtlCol="0" anchor="ctr"/>
          <a:lstStyle/>
          <a:p>
            <a:pPr indent="0" marL="0">
              <a:buNone/>
            </a:pPr>
            <a:r>
              <a:rPr lang="en-US" sz="1200" dirty="0">
                <a:solidFill>
                  <a:srgbClr val="5E6280"/>
                </a:solidFill>
                <a:latin typeface="Calibri" pitchFamily="34" charset="0"/>
                <a:ea typeface="Calibri" pitchFamily="34" charset="-122"/>
                <a:cs typeface="Calibri" pitchFamily="34" charset="-120"/>
              </a:rPr>
              <a:t>Pre-training with a procedural knowledge graph from how-to articles</a:t>
            </a:r>
            <a:endParaRPr lang="en-US" sz="1200" dirty="0"/>
          </a:p>
        </p:txBody>
      </p:sp>
      <p:sp>
        <p:nvSpPr>
          <p:cNvPr id="19" name="Shape 17"/>
          <p:cNvSpPr/>
          <p:nvPr/>
        </p:nvSpPr>
        <p:spPr>
          <a:xfrm>
            <a:off x="457200" y="3419856"/>
            <a:ext cx="457200" cy="457200"/>
          </a:xfrm>
          <a:prstGeom prst="ellipse">
            <a:avLst/>
          </a:prstGeom>
          <a:solidFill>
            <a:srgbClr val="5B5FC7"/>
          </a:solidFill>
          <a:ln w="12700">
            <a:solidFill>
              <a:srgbClr val="5B5FC7"/>
            </a:solidFill>
            <a:prstDash val="solid"/>
          </a:ln>
        </p:spPr>
      </p:sp>
      <p:sp>
        <p:nvSpPr>
          <p:cNvPr id="20" name="Text 18"/>
          <p:cNvSpPr txBox="1"/>
          <p:nvPr/>
        </p:nvSpPr>
        <p:spPr>
          <a:xfrm>
            <a:off x="457200" y="3419856"/>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10</a:t>
            </a:r>
            <a:endParaRPr lang="en-US" sz="1100" dirty="0"/>
          </a:p>
        </p:txBody>
      </p:sp>
      <p:sp>
        <p:nvSpPr>
          <p:cNvPr id="21" name="Text 19"/>
          <p:cNvSpPr txBox="1"/>
          <p:nvPr/>
        </p:nvSpPr>
        <p:spPr>
          <a:xfrm>
            <a:off x="1051560" y="3374136"/>
            <a:ext cx="2743200" cy="292608"/>
          </a:xfrm>
          <a:prstGeom prst="rect">
            <a:avLst/>
          </a:prstGeom>
          <a:noFill/>
          <a:ln/>
        </p:spPr>
        <p:txBody>
          <a:bodyPr wrap="square" lIns="0" tIns="0" rIns="0" bIns="0" rtlCol="0" anchor="ctr"/>
          <a:lstStyle/>
          <a:p>
            <a:pPr indent="0" marL="0">
              <a:buNone/>
            </a:pPr>
            <a:r>
              <a:rPr lang="en-US" sz="1500" b="1" dirty="0">
                <a:solidFill>
                  <a:srgbClr val="1D1F33"/>
                </a:solidFill>
                <a:latin typeface="Calibri" pitchFamily="34" charset="0"/>
                <a:ea typeface="Calibri" pitchFamily="34" charset="-122"/>
                <a:cs typeface="Calibri" pitchFamily="34" charset="-120"/>
              </a:rPr>
              <a:t>Video-Mined Task Graphs</a:t>
            </a:r>
            <a:endParaRPr lang="en-US" sz="1500" dirty="0"/>
          </a:p>
        </p:txBody>
      </p:sp>
      <p:sp>
        <p:nvSpPr>
          <p:cNvPr id="22" name="Text 20"/>
          <p:cNvSpPr txBox="1"/>
          <p:nvPr/>
        </p:nvSpPr>
        <p:spPr>
          <a:xfrm>
            <a:off x="1051560" y="3666744"/>
            <a:ext cx="2743200" cy="256032"/>
          </a:xfrm>
          <a:prstGeom prst="rect">
            <a:avLst/>
          </a:prstGeom>
          <a:noFill/>
          <a:ln/>
        </p:spPr>
        <p:txBody>
          <a:bodyPr wrap="square" lIns="0" tIns="0" rIns="0" bIns="0" rtlCol="0" anchor="ctr"/>
          <a:lstStyle/>
          <a:p>
            <a:pPr indent="0" marL="0">
              <a:buNone/>
            </a:pPr>
            <a:r>
              <a:rPr lang="en-US" sz="1100" dirty="0">
                <a:solidFill>
                  <a:srgbClr val="5B5FC7"/>
                </a:solidFill>
                <a:latin typeface="Calibri" pitchFamily="34" charset="0"/>
                <a:ea typeface="Calibri" pitchFamily="34" charset="-122"/>
                <a:cs typeface="Calibri" pitchFamily="34" charset="-120"/>
              </a:rPr>
              <a:t>Ashutosh et al., NeurIPS 2023</a:t>
            </a:r>
            <a:endParaRPr lang="en-US" sz="1100" dirty="0"/>
          </a:p>
        </p:txBody>
      </p:sp>
      <p:sp>
        <p:nvSpPr>
          <p:cNvPr id="23" name="Text 21"/>
          <p:cNvSpPr txBox="1"/>
          <p:nvPr/>
        </p:nvSpPr>
        <p:spPr>
          <a:xfrm>
            <a:off x="3840480" y="3374136"/>
            <a:ext cx="2286000" cy="594360"/>
          </a:xfrm>
          <a:prstGeom prst="rect">
            <a:avLst/>
          </a:prstGeom>
          <a:noFill/>
          <a:ln/>
        </p:spPr>
        <p:txBody>
          <a:bodyPr wrap="square" lIns="0" tIns="0" rIns="0" bIns="0" rtlCol="0" anchor="ctr"/>
          <a:lstStyle/>
          <a:p>
            <a:pPr indent="0" marL="0">
              <a:buNone/>
            </a:pPr>
            <a:r>
              <a:rPr lang="en-US" sz="1200" dirty="0">
                <a:solidFill>
                  <a:srgbClr val="5E6280"/>
                </a:solidFill>
                <a:latin typeface="Calibri" pitchFamily="34" charset="0"/>
                <a:ea typeface="Calibri" pitchFamily="34" charset="-122"/>
                <a:cs typeface="Calibri" pitchFamily="34" charset="-120"/>
              </a:rPr>
              <a:t>Learns step order from many videos to improve keystep recognition</a:t>
            </a:r>
            <a:endParaRPr lang="en-US" sz="1200" dirty="0"/>
          </a:p>
        </p:txBody>
      </p:sp>
      <p:sp>
        <p:nvSpPr>
          <p:cNvPr id="24" name="Shape 22"/>
          <p:cNvSpPr/>
          <p:nvPr/>
        </p:nvSpPr>
        <p:spPr>
          <a:xfrm>
            <a:off x="6400800" y="1234440"/>
            <a:ext cx="2286000" cy="2743200"/>
          </a:xfrm>
          <a:prstGeom prst="roundRect">
            <a:avLst>
              <a:gd name="adj" fmla="val 3200"/>
            </a:avLst>
          </a:prstGeom>
          <a:solidFill>
            <a:srgbClr val="15172E"/>
          </a:solidFill>
          <a:ln w="12700">
            <a:solidFill>
              <a:srgbClr val="15172E"/>
            </a:solidFill>
            <a:prstDash val="solid"/>
          </a:ln>
        </p:spPr>
      </p:sp>
      <p:pic>
        <p:nvPicPr>
          <p:cNvPr id="25" name="Image 0" descr="preencoded.png">    </p:cNvPr>
          <p:cNvPicPr>
            <a:picLocks noChangeAspect="1"/>
          </p:cNvPicPr>
          <p:nvPr/>
        </p:nvPicPr>
        <p:blipFill>
          <a:blip r:embed="rId1"/>
          <a:stretch>
            <a:fillRect/>
          </a:stretch>
        </p:blipFill>
        <p:spPr>
          <a:xfrm>
            <a:off x="6629400" y="1463040"/>
            <a:ext cx="365760" cy="365760"/>
          </a:xfrm>
          <a:prstGeom prst="rect">
            <a:avLst/>
          </a:prstGeom>
        </p:spPr>
      </p:pic>
      <p:sp>
        <p:nvSpPr>
          <p:cNvPr id="26" name="Text 23"/>
          <p:cNvSpPr txBox="1"/>
          <p:nvPr/>
        </p:nvSpPr>
        <p:spPr>
          <a:xfrm>
            <a:off x="6629400" y="1920240"/>
            <a:ext cx="1920240" cy="274320"/>
          </a:xfrm>
          <a:prstGeom prst="rect">
            <a:avLst/>
          </a:prstGeom>
          <a:noFill/>
          <a:ln/>
        </p:spPr>
        <p:txBody>
          <a:bodyPr wrap="square" lIns="0" tIns="0" rIns="0" bIns="0" rtlCol="0" anchor="ctr"/>
          <a:lstStyle/>
          <a:p>
            <a:pPr indent="0" marL="0">
              <a:buNone/>
            </a:pPr>
            <a:r>
              <a:rPr lang="en-US" sz="1400" b="1" dirty="0">
                <a:solidFill>
                  <a:srgbClr val="F2A541"/>
                </a:solidFill>
                <a:latin typeface="Calibri" pitchFamily="34" charset="0"/>
                <a:ea typeface="Calibri" pitchFamily="34" charset="-122"/>
                <a:cs typeface="Calibri" pitchFamily="34" charset="-120"/>
              </a:rPr>
              <a:t>What we took</a:t>
            </a:r>
            <a:endParaRPr lang="en-US" sz="1400" dirty="0"/>
          </a:p>
        </p:txBody>
      </p:sp>
      <p:sp>
        <p:nvSpPr>
          <p:cNvPr id="27" name="Text 24"/>
          <p:cNvSpPr txBox="1"/>
          <p:nvPr/>
        </p:nvSpPr>
        <p:spPr>
          <a:xfrm>
            <a:off x="6629400" y="2240280"/>
            <a:ext cx="1874520" cy="16459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They tell you which action happened, not whether the part ended up in the right place.</a:t>
            </a:r>
            <a:endParaRPr lang="en-US" sz="1200" dirty="0"/>
          </a:p>
          <a:p>
            <a:pPr indent="0" marL="0">
              <a:buNone/>
            </a:pPr>
            <a:r>
              <a:rPr lang="en-US" sz="600" dirty="0">
                <a:solidFill>
                  <a:srgbClr val="FFFFFF"/>
                </a:solidFill>
                <a:latin typeface="Calibri" pitchFamily="34" charset="0"/>
                <a:ea typeface="Calibri" pitchFamily="34" charset="-122"/>
                <a:cs typeface="Calibri" pitchFamily="34" charset="-120"/>
              </a:rPr>
              <a:t> </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Task graphs capture order, but not rules that have no order.</a:t>
            </a:r>
            <a:endParaRPr lang="en-US" sz="1200" dirty="0"/>
          </a:p>
        </p:txBody>
      </p:sp>
      <p:sp>
        <p:nvSpPr>
          <p:cNvPr id="28" name="Text 25"/>
          <p:cNvSpPr txBox="1"/>
          <p:nvPr/>
        </p:nvSpPr>
        <p:spPr>
          <a:xfrm>
            <a:off x="6400800" y="4754880"/>
            <a:ext cx="2286000" cy="228600"/>
          </a:xfrm>
          <a:prstGeom prst="rect">
            <a:avLst/>
          </a:prstGeom>
          <a:noFill/>
          <a:ln/>
        </p:spPr>
        <p:txBody>
          <a:bodyPr wrap="square" lIns="0" tIns="0" rIns="0" bIns="0" rtlCol="0" anchor="ctr"/>
          <a:lstStyle/>
          <a:p>
            <a:pPr algn="r" indent="0" marL="0">
              <a:buNone/>
            </a:pPr>
            <a:r>
              <a:rPr lang="en-US" sz="1000" i="1" dirty="0">
                <a:solidFill>
                  <a:srgbClr val="5E6280"/>
                </a:solidFill>
                <a:latin typeface="Calibri" pitchFamily="34" charset="0"/>
                <a:ea typeface="Calibri" pitchFamily="34" charset="-122"/>
                <a:cs typeface="Calibri" pitchFamily="34" charset="-120"/>
              </a:rPr>
              <a:t>Megh Mavani</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28600"/>
          </a:xfrm>
          <a:prstGeom prst="rect">
            <a:avLst/>
          </a:prstGeom>
          <a:noFill/>
          <a:ln/>
        </p:spPr>
        <p:txBody>
          <a:bodyPr wrap="square" lIns="0" tIns="0" rIns="0" bIns="0" rtlCol="0" anchor="ctr"/>
          <a:lstStyle/>
          <a:p>
            <a:pPr indent="0" marL="0">
              <a:buNone/>
            </a:pPr>
            <a:r>
              <a:rPr lang="en-US" sz="1100" b="1" spc="200" kern="0" dirty="0">
                <a:solidFill>
                  <a:srgbClr val="5B5FC7"/>
                </a:solidFill>
                <a:latin typeface="Calibri" pitchFamily="34" charset="0"/>
                <a:ea typeface="Calibri" pitchFamily="34" charset="-122"/>
                <a:cs typeface="Calibri" pitchFamily="34" charset="-120"/>
              </a:rPr>
              <a:t>LITERATURE SURVEY · 3 OF 4</a:t>
            </a:r>
            <a:endParaRPr lang="en-US" sz="1100" dirty="0"/>
          </a:p>
        </p:txBody>
      </p:sp>
      <p:sp>
        <p:nvSpPr>
          <p:cNvPr id="3" name="Text 1"/>
          <p:cNvSpPr txBox="1"/>
          <p:nvPr/>
        </p:nvSpPr>
        <p:spPr>
          <a:xfrm>
            <a:off x="457200" y="502920"/>
            <a:ext cx="8229600" cy="594360"/>
          </a:xfrm>
          <a:prstGeom prst="rect">
            <a:avLst/>
          </a:prstGeom>
          <a:noFill/>
          <a:ln/>
        </p:spPr>
        <p:txBody>
          <a:bodyPr wrap="square" lIns="0" tIns="0" rIns="0" bIns="0" rtlCol="0" anchor="ctr"/>
          <a:lstStyle/>
          <a:p>
            <a:pPr indent="0" marL="0">
              <a:buNone/>
            </a:pPr>
            <a:r>
              <a:rPr lang="en-US" sz="3000" b="1" dirty="0">
                <a:solidFill>
                  <a:srgbClr val="15172E"/>
                </a:solidFill>
                <a:latin typeface="Cambria" pitchFamily="34" charset="0"/>
                <a:ea typeface="Cambria" pitchFamily="34" charset="-122"/>
                <a:cs typeface="Cambria" pitchFamily="34" charset="-120"/>
              </a:rPr>
              <a:t>Mistake detection and LLM reasoning</a:t>
            </a:r>
            <a:endParaRPr lang="en-US" sz="3000" dirty="0"/>
          </a:p>
        </p:txBody>
      </p:sp>
      <p:sp>
        <p:nvSpPr>
          <p:cNvPr id="4" name="Shape 2"/>
          <p:cNvSpPr/>
          <p:nvPr/>
        </p:nvSpPr>
        <p:spPr>
          <a:xfrm>
            <a:off x="457200" y="1234440"/>
            <a:ext cx="4023360" cy="1188720"/>
          </a:xfrm>
          <a:prstGeom prst="roundRect">
            <a:avLst>
              <a:gd name="adj" fmla="val 6154"/>
            </a:avLst>
          </a:prstGeom>
          <a:solidFill>
            <a:srgbClr val="15172E"/>
          </a:solidFill>
          <a:ln w="12700">
            <a:solidFill>
              <a:srgbClr val="15172E"/>
            </a:solidFill>
            <a:prstDash val="solid"/>
          </a:ln>
        </p:spPr>
      </p:sp>
      <p:sp>
        <p:nvSpPr>
          <p:cNvPr id="5" name="Shape 3"/>
          <p:cNvSpPr/>
          <p:nvPr/>
        </p:nvSpPr>
        <p:spPr>
          <a:xfrm>
            <a:off x="621792" y="1399032"/>
            <a:ext cx="411480" cy="411480"/>
          </a:xfrm>
          <a:prstGeom prst="ellipse">
            <a:avLst/>
          </a:prstGeom>
          <a:solidFill>
            <a:srgbClr val="F2A541"/>
          </a:solidFill>
          <a:ln w="12700">
            <a:solidFill>
              <a:srgbClr val="F2A541"/>
            </a:solidFill>
            <a:prstDash val="solid"/>
          </a:ln>
        </p:spPr>
      </p:sp>
      <p:sp>
        <p:nvSpPr>
          <p:cNvPr id="6" name="Text 4"/>
          <p:cNvSpPr txBox="1"/>
          <p:nvPr/>
        </p:nvSpPr>
        <p:spPr>
          <a:xfrm>
            <a:off x="621792" y="1399032"/>
            <a:ext cx="411480" cy="411480"/>
          </a:xfrm>
          <a:prstGeom prst="rect">
            <a:avLst/>
          </a:prstGeom>
          <a:noFill/>
          <a:ln/>
        </p:spPr>
        <p:txBody>
          <a:bodyPr wrap="square" lIns="0" tIns="0" rIns="0" bIns="0" rtlCol="0" anchor="ctr"/>
          <a:lstStyle/>
          <a:p>
            <a:pPr algn="ctr" indent="0" marL="0">
              <a:buNone/>
            </a:pPr>
            <a:r>
              <a:rPr lang="en-US" sz="990" b="1" dirty="0">
                <a:solidFill>
                  <a:srgbClr val="15172E"/>
                </a:solidFill>
                <a:latin typeface="Cambria" pitchFamily="34" charset="0"/>
                <a:ea typeface="Cambria" pitchFamily="34" charset="-122"/>
                <a:cs typeface="Cambria" pitchFamily="34" charset="-120"/>
              </a:rPr>
              <a:t>11</a:t>
            </a:r>
            <a:endParaRPr lang="en-US" sz="990" dirty="0"/>
          </a:p>
        </p:txBody>
      </p:sp>
      <p:sp>
        <p:nvSpPr>
          <p:cNvPr id="7" name="Text 5"/>
          <p:cNvSpPr txBox="1"/>
          <p:nvPr/>
        </p:nvSpPr>
        <p:spPr>
          <a:xfrm>
            <a:off x="1188720" y="1371600"/>
            <a:ext cx="315468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PREGO</a:t>
            </a:r>
            <a:endParaRPr lang="en-US" sz="1400" dirty="0"/>
          </a:p>
        </p:txBody>
      </p:sp>
      <p:sp>
        <p:nvSpPr>
          <p:cNvPr id="8" name="Text 6"/>
          <p:cNvSpPr txBox="1"/>
          <p:nvPr/>
        </p:nvSpPr>
        <p:spPr>
          <a:xfrm>
            <a:off x="1188720" y="1645920"/>
            <a:ext cx="3154680" cy="228600"/>
          </a:xfrm>
          <a:prstGeom prst="rect">
            <a:avLst/>
          </a:prstGeom>
          <a:noFill/>
          <a:ln/>
        </p:spPr>
        <p:txBody>
          <a:bodyPr wrap="square" lIns="0" tIns="0" rIns="0" bIns="0" rtlCol="0" anchor="ctr"/>
          <a:lstStyle/>
          <a:p>
            <a:pPr indent="0" marL="0">
              <a:buNone/>
            </a:pPr>
            <a:r>
              <a:rPr lang="en-US" sz="1050" dirty="0">
                <a:solidFill>
                  <a:srgbClr val="F2A541"/>
                </a:solidFill>
                <a:latin typeface="Calibri" pitchFamily="34" charset="0"/>
                <a:ea typeface="Calibri" pitchFamily="34" charset="-122"/>
                <a:cs typeface="Calibri" pitchFamily="34" charset="-120"/>
              </a:rPr>
              <a:t>Flaborea et al., CVPR 2024</a:t>
            </a:r>
            <a:endParaRPr lang="en-US" sz="1050" dirty="0"/>
          </a:p>
        </p:txBody>
      </p:sp>
      <p:sp>
        <p:nvSpPr>
          <p:cNvPr id="9" name="Text 7"/>
          <p:cNvSpPr txBox="1"/>
          <p:nvPr/>
        </p:nvSpPr>
        <p:spPr>
          <a:xfrm>
            <a:off x="1188720" y="1892808"/>
            <a:ext cx="3154680" cy="457200"/>
          </a:xfrm>
          <a:prstGeom prst="rect">
            <a:avLst/>
          </a:prstGeom>
          <a:noFill/>
          <a:ln/>
        </p:spPr>
        <p:txBody>
          <a:bodyPr wrap="square" lIns="0" tIns="0" rIns="0" bIns="0" rtlCol="0" anchor="ctr"/>
          <a:lstStyle/>
          <a:p>
            <a:pPr indent="0" marL="0">
              <a:buNone/>
            </a:pPr>
            <a:r>
              <a:rPr lang="en-US" sz="1150" dirty="0">
                <a:solidFill>
                  <a:srgbClr val="C9CBE3"/>
                </a:solidFill>
                <a:latin typeface="Calibri" pitchFamily="34" charset="0"/>
                <a:ea typeface="Calibri" pitchFamily="34" charset="-122"/>
                <a:cs typeface="Calibri" pitchFamily="34" charset="-120"/>
              </a:rPr>
              <a:t>Recognises the step; an LLM predicts the next. Mismatch = mistake.</a:t>
            </a:r>
            <a:endParaRPr lang="en-US" sz="1150" dirty="0"/>
          </a:p>
        </p:txBody>
      </p:sp>
      <p:sp>
        <p:nvSpPr>
          <p:cNvPr id="10" name="Shape 8"/>
          <p:cNvSpPr/>
          <p:nvPr/>
        </p:nvSpPr>
        <p:spPr>
          <a:xfrm>
            <a:off x="4663440" y="1234440"/>
            <a:ext cx="4023360" cy="1188720"/>
          </a:xfrm>
          <a:prstGeom prst="roundRect">
            <a:avLst>
              <a:gd name="adj" fmla="val 6154"/>
            </a:avLst>
          </a:prstGeom>
          <a:solidFill>
            <a:srgbClr val="F1F2F8"/>
          </a:solidFill>
          <a:ln w="12700">
            <a:solidFill>
              <a:srgbClr val="F1F2F8"/>
            </a:solidFill>
            <a:prstDash val="solid"/>
          </a:ln>
        </p:spPr>
      </p:sp>
      <p:sp>
        <p:nvSpPr>
          <p:cNvPr id="11" name="Shape 9"/>
          <p:cNvSpPr/>
          <p:nvPr/>
        </p:nvSpPr>
        <p:spPr>
          <a:xfrm>
            <a:off x="4828032" y="1399032"/>
            <a:ext cx="411480" cy="411480"/>
          </a:xfrm>
          <a:prstGeom prst="ellipse">
            <a:avLst/>
          </a:prstGeom>
          <a:solidFill>
            <a:srgbClr val="5B5FC7"/>
          </a:solidFill>
          <a:ln w="12700">
            <a:solidFill>
              <a:srgbClr val="5B5FC7"/>
            </a:solidFill>
            <a:prstDash val="solid"/>
          </a:ln>
        </p:spPr>
      </p:sp>
      <p:sp>
        <p:nvSpPr>
          <p:cNvPr id="12" name="Text 10"/>
          <p:cNvSpPr txBox="1"/>
          <p:nvPr/>
        </p:nvSpPr>
        <p:spPr>
          <a:xfrm>
            <a:off x="4828032" y="1399032"/>
            <a:ext cx="411480" cy="411480"/>
          </a:xfrm>
          <a:prstGeom prst="rect">
            <a:avLst/>
          </a:prstGeom>
          <a:noFill/>
          <a:ln/>
        </p:spPr>
        <p:txBody>
          <a:bodyPr wrap="square" lIns="0" tIns="0" rIns="0" bIns="0" rtlCol="0" anchor="ctr"/>
          <a:lstStyle/>
          <a:p>
            <a:pPr algn="ctr" indent="0" marL="0">
              <a:buNone/>
            </a:pPr>
            <a:r>
              <a:rPr lang="en-US" sz="990" b="1" dirty="0">
                <a:solidFill>
                  <a:srgbClr val="FFFFFF"/>
                </a:solidFill>
                <a:latin typeface="Cambria" pitchFamily="34" charset="0"/>
                <a:ea typeface="Cambria" pitchFamily="34" charset="-122"/>
                <a:cs typeface="Cambria" pitchFamily="34" charset="-120"/>
              </a:rPr>
              <a:t>12</a:t>
            </a:r>
            <a:endParaRPr lang="en-US" sz="990" dirty="0"/>
          </a:p>
        </p:txBody>
      </p:sp>
      <p:sp>
        <p:nvSpPr>
          <p:cNvPr id="13" name="Text 11"/>
          <p:cNvSpPr txBox="1"/>
          <p:nvPr/>
        </p:nvSpPr>
        <p:spPr>
          <a:xfrm>
            <a:off x="5394960" y="1371600"/>
            <a:ext cx="3154680" cy="274320"/>
          </a:xfrm>
          <a:prstGeom prst="rect">
            <a:avLst/>
          </a:prstGeom>
          <a:noFill/>
          <a:ln/>
        </p:spPr>
        <p:txBody>
          <a:bodyPr wrap="square" lIns="0" tIns="0" rIns="0" bIns="0" rtlCol="0" anchor="ctr"/>
          <a:lstStyle/>
          <a:p>
            <a:pPr indent="0" marL="0">
              <a:buNone/>
            </a:pPr>
            <a:r>
              <a:rPr lang="en-US" sz="1400" b="1" dirty="0">
                <a:solidFill>
                  <a:srgbClr val="1D1F33"/>
                </a:solidFill>
                <a:latin typeface="Calibri" pitchFamily="34" charset="0"/>
                <a:ea typeface="Calibri" pitchFamily="34" charset="-122"/>
                <a:cs typeface="Calibri" pitchFamily="34" charset="-120"/>
              </a:rPr>
              <a:t>Differentiable Task Graphs</a:t>
            </a:r>
            <a:endParaRPr lang="en-US" sz="1400" dirty="0"/>
          </a:p>
        </p:txBody>
      </p:sp>
      <p:sp>
        <p:nvSpPr>
          <p:cNvPr id="14" name="Text 12"/>
          <p:cNvSpPr txBox="1"/>
          <p:nvPr/>
        </p:nvSpPr>
        <p:spPr>
          <a:xfrm>
            <a:off x="5394960" y="1645920"/>
            <a:ext cx="3154680" cy="228600"/>
          </a:xfrm>
          <a:prstGeom prst="rect">
            <a:avLst/>
          </a:prstGeom>
          <a:noFill/>
          <a:ln/>
        </p:spPr>
        <p:txBody>
          <a:bodyPr wrap="square" lIns="0" tIns="0" rIns="0" bIns="0" rtlCol="0" anchor="ctr"/>
          <a:lstStyle/>
          <a:p>
            <a:pPr indent="0" marL="0">
              <a:buNone/>
            </a:pPr>
            <a:r>
              <a:rPr lang="en-US" sz="1050" dirty="0">
                <a:solidFill>
                  <a:srgbClr val="5B5FC7"/>
                </a:solidFill>
                <a:latin typeface="Calibri" pitchFamily="34" charset="0"/>
                <a:ea typeface="Calibri" pitchFamily="34" charset="-122"/>
                <a:cs typeface="Calibri" pitchFamily="34" charset="-120"/>
              </a:rPr>
              <a:t>Seminara et al., NeurIPS 2024</a:t>
            </a:r>
            <a:endParaRPr lang="en-US" sz="1050" dirty="0"/>
          </a:p>
        </p:txBody>
      </p:sp>
      <p:sp>
        <p:nvSpPr>
          <p:cNvPr id="15" name="Text 13"/>
          <p:cNvSpPr txBox="1"/>
          <p:nvPr/>
        </p:nvSpPr>
        <p:spPr>
          <a:xfrm>
            <a:off x="5394960" y="1892808"/>
            <a:ext cx="3154680" cy="457200"/>
          </a:xfrm>
          <a:prstGeom prst="rect">
            <a:avLst/>
          </a:prstGeom>
          <a:noFill/>
          <a:ln/>
        </p:spPr>
        <p:txBody>
          <a:bodyPr wrap="square" lIns="0" tIns="0" rIns="0" bIns="0" rtlCol="0" anchor="ctr"/>
          <a:lstStyle/>
          <a:p>
            <a:pPr indent="0" marL="0">
              <a:buNone/>
            </a:pPr>
            <a:r>
              <a:rPr lang="en-US" sz="1150" dirty="0">
                <a:solidFill>
                  <a:srgbClr val="5E6280"/>
                </a:solidFill>
                <a:latin typeface="Calibri" pitchFamily="34" charset="0"/>
                <a:ea typeface="Calibri" pitchFamily="34" charset="-122"/>
                <a:cs typeface="Calibri" pitchFamily="34" charset="-120"/>
              </a:rPr>
              <a:t>Learns the task graph from sequences; online mistake detection</a:t>
            </a:r>
            <a:endParaRPr lang="en-US" sz="1150" dirty="0"/>
          </a:p>
        </p:txBody>
      </p:sp>
      <p:sp>
        <p:nvSpPr>
          <p:cNvPr id="16" name="Shape 14"/>
          <p:cNvSpPr/>
          <p:nvPr/>
        </p:nvSpPr>
        <p:spPr>
          <a:xfrm>
            <a:off x="457200" y="2606040"/>
            <a:ext cx="4023360" cy="1188720"/>
          </a:xfrm>
          <a:prstGeom prst="roundRect">
            <a:avLst>
              <a:gd name="adj" fmla="val 6154"/>
            </a:avLst>
          </a:prstGeom>
          <a:solidFill>
            <a:srgbClr val="F1F2F8"/>
          </a:solidFill>
          <a:ln w="12700">
            <a:solidFill>
              <a:srgbClr val="F1F2F8"/>
            </a:solidFill>
            <a:prstDash val="solid"/>
          </a:ln>
        </p:spPr>
      </p:sp>
      <p:sp>
        <p:nvSpPr>
          <p:cNvPr id="17" name="Shape 15"/>
          <p:cNvSpPr/>
          <p:nvPr/>
        </p:nvSpPr>
        <p:spPr>
          <a:xfrm>
            <a:off x="621792" y="2770632"/>
            <a:ext cx="411480" cy="411480"/>
          </a:xfrm>
          <a:prstGeom prst="ellipse">
            <a:avLst/>
          </a:prstGeom>
          <a:solidFill>
            <a:srgbClr val="5B5FC7"/>
          </a:solidFill>
          <a:ln w="12700">
            <a:solidFill>
              <a:srgbClr val="5B5FC7"/>
            </a:solidFill>
            <a:prstDash val="solid"/>
          </a:ln>
        </p:spPr>
      </p:sp>
      <p:sp>
        <p:nvSpPr>
          <p:cNvPr id="18" name="Text 16"/>
          <p:cNvSpPr txBox="1"/>
          <p:nvPr/>
        </p:nvSpPr>
        <p:spPr>
          <a:xfrm>
            <a:off x="621792" y="2770632"/>
            <a:ext cx="411480" cy="411480"/>
          </a:xfrm>
          <a:prstGeom prst="rect">
            <a:avLst/>
          </a:prstGeom>
          <a:noFill/>
          <a:ln/>
        </p:spPr>
        <p:txBody>
          <a:bodyPr wrap="square" lIns="0" tIns="0" rIns="0" bIns="0" rtlCol="0" anchor="ctr"/>
          <a:lstStyle/>
          <a:p>
            <a:pPr algn="ctr" indent="0" marL="0">
              <a:buNone/>
            </a:pPr>
            <a:r>
              <a:rPr lang="en-US" sz="990" b="1" dirty="0">
                <a:solidFill>
                  <a:srgbClr val="FFFFFF"/>
                </a:solidFill>
                <a:latin typeface="Cambria" pitchFamily="34" charset="0"/>
                <a:ea typeface="Cambria" pitchFamily="34" charset="-122"/>
                <a:cs typeface="Cambria" pitchFamily="34" charset="-120"/>
              </a:rPr>
              <a:t>13</a:t>
            </a:r>
            <a:endParaRPr lang="en-US" sz="990" dirty="0"/>
          </a:p>
        </p:txBody>
      </p:sp>
      <p:sp>
        <p:nvSpPr>
          <p:cNvPr id="19" name="Text 17"/>
          <p:cNvSpPr txBox="1"/>
          <p:nvPr/>
        </p:nvSpPr>
        <p:spPr>
          <a:xfrm>
            <a:off x="1188720" y="2743200"/>
            <a:ext cx="3154680" cy="274320"/>
          </a:xfrm>
          <a:prstGeom prst="rect">
            <a:avLst/>
          </a:prstGeom>
          <a:noFill/>
          <a:ln/>
        </p:spPr>
        <p:txBody>
          <a:bodyPr wrap="square" lIns="0" tIns="0" rIns="0" bIns="0" rtlCol="0" anchor="ctr"/>
          <a:lstStyle/>
          <a:p>
            <a:pPr indent="0" marL="0">
              <a:buNone/>
            </a:pPr>
            <a:r>
              <a:rPr lang="en-US" sz="1400" b="1" dirty="0">
                <a:solidFill>
                  <a:srgbClr val="1D1F33"/>
                </a:solidFill>
                <a:latin typeface="Calibri" pitchFamily="34" charset="0"/>
                <a:ea typeface="Calibri" pitchFamily="34" charset="-122"/>
                <a:cs typeface="Calibri" pitchFamily="34" charset="-120"/>
              </a:rPr>
              <a:t>SayCan</a:t>
            </a:r>
            <a:endParaRPr lang="en-US" sz="1400" dirty="0"/>
          </a:p>
        </p:txBody>
      </p:sp>
      <p:sp>
        <p:nvSpPr>
          <p:cNvPr id="20" name="Text 18"/>
          <p:cNvSpPr txBox="1"/>
          <p:nvPr/>
        </p:nvSpPr>
        <p:spPr>
          <a:xfrm>
            <a:off x="1188720" y="3017520"/>
            <a:ext cx="3154680" cy="228600"/>
          </a:xfrm>
          <a:prstGeom prst="rect">
            <a:avLst/>
          </a:prstGeom>
          <a:noFill/>
          <a:ln/>
        </p:spPr>
        <p:txBody>
          <a:bodyPr wrap="square" lIns="0" tIns="0" rIns="0" bIns="0" rtlCol="0" anchor="ctr"/>
          <a:lstStyle/>
          <a:p>
            <a:pPr indent="0" marL="0">
              <a:buNone/>
            </a:pPr>
            <a:r>
              <a:rPr lang="en-US" sz="1050" dirty="0">
                <a:solidFill>
                  <a:srgbClr val="5B5FC7"/>
                </a:solidFill>
                <a:latin typeface="Calibri" pitchFamily="34" charset="0"/>
                <a:ea typeface="Calibri" pitchFamily="34" charset="-122"/>
                <a:cs typeface="Calibri" pitchFamily="34" charset="-120"/>
              </a:rPr>
              <a:t>Ahn et al., CoRL 2022</a:t>
            </a:r>
            <a:endParaRPr lang="en-US" sz="1050" dirty="0"/>
          </a:p>
        </p:txBody>
      </p:sp>
      <p:sp>
        <p:nvSpPr>
          <p:cNvPr id="21" name="Text 19"/>
          <p:cNvSpPr txBox="1"/>
          <p:nvPr/>
        </p:nvSpPr>
        <p:spPr>
          <a:xfrm>
            <a:off x="1188720" y="3264408"/>
            <a:ext cx="3154680" cy="457200"/>
          </a:xfrm>
          <a:prstGeom prst="rect">
            <a:avLst/>
          </a:prstGeom>
          <a:noFill/>
          <a:ln/>
        </p:spPr>
        <p:txBody>
          <a:bodyPr wrap="square" lIns="0" tIns="0" rIns="0" bIns="0" rtlCol="0" anchor="ctr"/>
          <a:lstStyle/>
          <a:p>
            <a:pPr indent="0" marL="0">
              <a:buNone/>
            </a:pPr>
            <a:r>
              <a:rPr lang="en-US" sz="1150" dirty="0">
                <a:solidFill>
                  <a:srgbClr val="5E6280"/>
                </a:solidFill>
                <a:latin typeface="Calibri" pitchFamily="34" charset="0"/>
                <a:ea typeface="Calibri" pitchFamily="34" charset="-122"/>
                <a:cs typeface="Calibri" pitchFamily="34" charset="-120"/>
              </a:rPr>
              <a:t>LLM turns instructions into plans a robot can execute</a:t>
            </a:r>
            <a:endParaRPr lang="en-US" sz="1150" dirty="0"/>
          </a:p>
        </p:txBody>
      </p:sp>
      <p:sp>
        <p:nvSpPr>
          <p:cNvPr id="22" name="Shape 20"/>
          <p:cNvSpPr/>
          <p:nvPr/>
        </p:nvSpPr>
        <p:spPr>
          <a:xfrm>
            <a:off x="4663440" y="2606040"/>
            <a:ext cx="4023360" cy="1188720"/>
          </a:xfrm>
          <a:prstGeom prst="roundRect">
            <a:avLst>
              <a:gd name="adj" fmla="val 6154"/>
            </a:avLst>
          </a:prstGeom>
          <a:solidFill>
            <a:srgbClr val="F1F2F8"/>
          </a:solidFill>
          <a:ln w="12700">
            <a:solidFill>
              <a:srgbClr val="F1F2F8"/>
            </a:solidFill>
            <a:prstDash val="solid"/>
          </a:ln>
        </p:spPr>
      </p:sp>
      <p:sp>
        <p:nvSpPr>
          <p:cNvPr id="23" name="Shape 21"/>
          <p:cNvSpPr/>
          <p:nvPr/>
        </p:nvSpPr>
        <p:spPr>
          <a:xfrm>
            <a:off x="4828032" y="2770632"/>
            <a:ext cx="411480" cy="411480"/>
          </a:xfrm>
          <a:prstGeom prst="ellipse">
            <a:avLst/>
          </a:prstGeom>
          <a:solidFill>
            <a:srgbClr val="5B5FC7"/>
          </a:solidFill>
          <a:ln w="12700">
            <a:solidFill>
              <a:srgbClr val="5B5FC7"/>
            </a:solidFill>
            <a:prstDash val="solid"/>
          </a:ln>
        </p:spPr>
      </p:sp>
      <p:sp>
        <p:nvSpPr>
          <p:cNvPr id="24" name="Text 22"/>
          <p:cNvSpPr txBox="1"/>
          <p:nvPr/>
        </p:nvSpPr>
        <p:spPr>
          <a:xfrm>
            <a:off x="4828032" y="2770632"/>
            <a:ext cx="411480" cy="411480"/>
          </a:xfrm>
          <a:prstGeom prst="rect">
            <a:avLst/>
          </a:prstGeom>
          <a:noFill/>
          <a:ln/>
        </p:spPr>
        <p:txBody>
          <a:bodyPr wrap="square" lIns="0" tIns="0" rIns="0" bIns="0" rtlCol="0" anchor="ctr"/>
          <a:lstStyle/>
          <a:p>
            <a:pPr algn="ctr" indent="0" marL="0">
              <a:buNone/>
            </a:pPr>
            <a:r>
              <a:rPr lang="en-US" sz="990" b="1" dirty="0">
                <a:solidFill>
                  <a:srgbClr val="FFFFFF"/>
                </a:solidFill>
                <a:latin typeface="Cambria" pitchFamily="34" charset="0"/>
                <a:ea typeface="Cambria" pitchFamily="34" charset="-122"/>
                <a:cs typeface="Cambria" pitchFamily="34" charset="-120"/>
              </a:rPr>
              <a:t>14</a:t>
            </a:r>
            <a:endParaRPr lang="en-US" sz="990" dirty="0"/>
          </a:p>
        </p:txBody>
      </p:sp>
      <p:sp>
        <p:nvSpPr>
          <p:cNvPr id="25" name="Text 23"/>
          <p:cNvSpPr txBox="1"/>
          <p:nvPr/>
        </p:nvSpPr>
        <p:spPr>
          <a:xfrm>
            <a:off x="5394960" y="2743200"/>
            <a:ext cx="3154680" cy="274320"/>
          </a:xfrm>
          <a:prstGeom prst="rect">
            <a:avLst/>
          </a:prstGeom>
          <a:noFill/>
          <a:ln/>
        </p:spPr>
        <p:txBody>
          <a:bodyPr wrap="square" lIns="0" tIns="0" rIns="0" bIns="0" rtlCol="0" anchor="ctr"/>
          <a:lstStyle/>
          <a:p>
            <a:pPr indent="0" marL="0">
              <a:buNone/>
            </a:pPr>
            <a:r>
              <a:rPr lang="en-US" sz="1400" b="1" dirty="0">
                <a:solidFill>
                  <a:srgbClr val="1D1F33"/>
                </a:solidFill>
                <a:latin typeface="Calibri" pitchFamily="34" charset="0"/>
                <a:ea typeface="Calibri" pitchFamily="34" charset="-122"/>
                <a:cs typeface="Calibri" pitchFamily="34" charset="-120"/>
              </a:rPr>
              <a:t>Code as Policies</a:t>
            </a:r>
            <a:endParaRPr lang="en-US" sz="1400" dirty="0"/>
          </a:p>
        </p:txBody>
      </p:sp>
      <p:sp>
        <p:nvSpPr>
          <p:cNvPr id="26" name="Text 24"/>
          <p:cNvSpPr txBox="1"/>
          <p:nvPr/>
        </p:nvSpPr>
        <p:spPr>
          <a:xfrm>
            <a:off x="5394960" y="3017520"/>
            <a:ext cx="3154680" cy="228600"/>
          </a:xfrm>
          <a:prstGeom prst="rect">
            <a:avLst/>
          </a:prstGeom>
          <a:noFill/>
          <a:ln/>
        </p:spPr>
        <p:txBody>
          <a:bodyPr wrap="square" lIns="0" tIns="0" rIns="0" bIns="0" rtlCol="0" anchor="ctr"/>
          <a:lstStyle/>
          <a:p>
            <a:pPr indent="0" marL="0">
              <a:buNone/>
            </a:pPr>
            <a:r>
              <a:rPr lang="en-US" sz="1050" dirty="0">
                <a:solidFill>
                  <a:srgbClr val="5B5FC7"/>
                </a:solidFill>
                <a:latin typeface="Calibri" pitchFamily="34" charset="0"/>
                <a:ea typeface="Calibri" pitchFamily="34" charset="-122"/>
                <a:cs typeface="Calibri" pitchFamily="34" charset="-120"/>
              </a:rPr>
              <a:t>Liang et al., ICRA 2023</a:t>
            </a:r>
            <a:endParaRPr lang="en-US" sz="1050" dirty="0"/>
          </a:p>
        </p:txBody>
      </p:sp>
      <p:sp>
        <p:nvSpPr>
          <p:cNvPr id="27" name="Text 25"/>
          <p:cNvSpPr txBox="1"/>
          <p:nvPr/>
        </p:nvSpPr>
        <p:spPr>
          <a:xfrm>
            <a:off x="5394960" y="3264408"/>
            <a:ext cx="3154680" cy="457200"/>
          </a:xfrm>
          <a:prstGeom prst="rect">
            <a:avLst/>
          </a:prstGeom>
          <a:noFill/>
          <a:ln/>
        </p:spPr>
        <p:txBody>
          <a:bodyPr wrap="square" lIns="0" tIns="0" rIns="0" bIns="0" rtlCol="0" anchor="ctr"/>
          <a:lstStyle/>
          <a:p>
            <a:pPr indent="0" marL="0">
              <a:buNone/>
            </a:pPr>
            <a:r>
              <a:rPr lang="en-US" sz="1150" dirty="0">
                <a:solidFill>
                  <a:srgbClr val="5E6280"/>
                </a:solidFill>
                <a:latin typeface="Calibri" pitchFamily="34" charset="0"/>
                <a:ea typeface="Calibri" pitchFamily="34" charset="-122"/>
                <a:cs typeface="Calibri" pitchFamily="34" charset="-120"/>
              </a:rPr>
              <a:t>LLM writes executable programs from language</a:t>
            </a:r>
            <a:endParaRPr lang="en-US" sz="1150" dirty="0"/>
          </a:p>
        </p:txBody>
      </p:sp>
      <p:sp>
        <p:nvSpPr>
          <p:cNvPr id="28" name="Text 26"/>
          <p:cNvSpPr txBox="1"/>
          <p:nvPr/>
        </p:nvSpPr>
        <p:spPr>
          <a:xfrm>
            <a:off x="457200" y="4023360"/>
            <a:ext cx="8229600" cy="502920"/>
          </a:xfrm>
          <a:prstGeom prst="rect">
            <a:avLst/>
          </a:prstGeom>
          <a:noFill/>
          <a:ln/>
        </p:spPr>
        <p:txBody>
          <a:bodyPr wrap="square" lIns="0" tIns="0" rIns="0" bIns="0" rtlCol="0" anchor="ctr"/>
          <a:lstStyle/>
          <a:p>
            <a:pPr indent="0" marL="0">
              <a:buNone/>
            </a:pPr>
            <a:r>
              <a:rPr lang="en-US" sz="1300" b="1" dirty="0">
                <a:solidFill>
                  <a:srgbClr val="15172E"/>
                </a:solidFill>
                <a:latin typeface="Calibri" pitchFamily="34" charset="0"/>
                <a:ea typeface="Calibri" pitchFamily="34" charset="-122"/>
                <a:cs typeface="Calibri" pitchFamily="34" charset="-120"/>
              </a:rPr>
              <a:t>Closest to ours: </a:t>
            </a:r>
            <a:pPr indent="0" marL="0">
              <a:buNone/>
            </a:pPr>
            <a:r>
              <a:rPr lang="en-US" sz="1300" dirty="0">
                <a:solidFill>
                  <a:srgbClr val="5E6280"/>
                </a:solidFill>
                <a:latin typeface="Calibri" pitchFamily="34" charset="0"/>
                <a:ea typeface="Calibri" pitchFamily="34" charset="-122"/>
                <a:cs typeface="Calibri" pitchFamily="34" charset="-120"/>
              </a:rPr>
              <a:t>PREGO.   </a:t>
            </a:r>
            <a:pPr indent="0" marL="0">
              <a:buNone/>
            </a:pPr>
            <a:r>
              <a:rPr lang="en-US" sz="1300" b="1" dirty="0">
                <a:solidFill>
                  <a:srgbClr val="15172E"/>
                </a:solidFill>
                <a:latin typeface="Calibri" pitchFamily="34" charset="0"/>
                <a:ea typeface="Calibri" pitchFamily="34" charset="-122"/>
                <a:cs typeface="Calibri" pitchFamily="34" charset="-120"/>
              </a:rPr>
              <a:t>Idea we borrow: </a:t>
            </a:r>
            <a:pPr indent="0" marL="0">
              <a:buNone/>
            </a:pPr>
            <a:r>
              <a:rPr lang="en-US" sz="1300" dirty="0">
                <a:solidFill>
                  <a:srgbClr val="5E6280"/>
                </a:solidFill>
                <a:latin typeface="Calibri" pitchFamily="34" charset="0"/>
                <a:ea typeface="Calibri" pitchFamily="34" charset="-122"/>
                <a:cs typeface="Calibri" pitchFamily="34" charset="-120"/>
              </a:rPr>
              <a:t>the LLM compiles the manual into rules, and never looks at the video.</a:t>
            </a:r>
            <a:endParaRPr lang="en-US" sz="1300" dirty="0"/>
          </a:p>
        </p:txBody>
      </p:sp>
      <p:sp>
        <p:nvSpPr>
          <p:cNvPr id="29" name="Text 27"/>
          <p:cNvSpPr txBox="1"/>
          <p:nvPr/>
        </p:nvSpPr>
        <p:spPr>
          <a:xfrm>
            <a:off x="6400800" y="4754880"/>
            <a:ext cx="2286000" cy="228600"/>
          </a:xfrm>
          <a:prstGeom prst="rect">
            <a:avLst/>
          </a:prstGeom>
          <a:noFill/>
          <a:ln/>
        </p:spPr>
        <p:txBody>
          <a:bodyPr wrap="square" lIns="0" tIns="0" rIns="0" bIns="0" rtlCol="0" anchor="ctr"/>
          <a:lstStyle/>
          <a:p>
            <a:pPr algn="r" indent="0" marL="0">
              <a:buNone/>
            </a:pPr>
            <a:r>
              <a:rPr lang="en-US" sz="1000" i="1" dirty="0">
                <a:solidFill>
                  <a:srgbClr val="5E6280"/>
                </a:solidFill>
                <a:latin typeface="Calibri" pitchFamily="34" charset="0"/>
                <a:ea typeface="Calibri" pitchFamily="34" charset="-122"/>
                <a:cs typeface="Calibri" pitchFamily="34" charset="-120"/>
              </a:rPr>
              <a:t>Mitul KM</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28600"/>
          </a:xfrm>
          <a:prstGeom prst="rect">
            <a:avLst/>
          </a:prstGeom>
          <a:noFill/>
          <a:ln/>
        </p:spPr>
        <p:txBody>
          <a:bodyPr wrap="square" lIns="0" tIns="0" rIns="0" bIns="0" rtlCol="0" anchor="ctr"/>
          <a:lstStyle/>
          <a:p>
            <a:pPr indent="0" marL="0">
              <a:buNone/>
            </a:pPr>
            <a:r>
              <a:rPr lang="en-US" sz="1100" b="1" spc="200" kern="0" dirty="0">
                <a:solidFill>
                  <a:srgbClr val="5B5FC7"/>
                </a:solidFill>
                <a:latin typeface="Calibri" pitchFamily="34" charset="0"/>
                <a:ea typeface="Calibri" pitchFamily="34" charset="-122"/>
                <a:cs typeface="Calibri" pitchFamily="34" charset="-120"/>
              </a:rPr>
              <a:t>LITERATURE SURVEY · 4 OF 4</a:t>
            </a:r>
            <a:endParaRPr lang="en-US" sz="1100" dirty="0"/>
          </a:p>
        </p:txBody>
      </p:sp>
      <p:sp>
        <p:nvSpPr>
          <p:cNvPr id="3" name="Text 1"/>
          <p:cNvSpPr txBox="1"/>
          <p:nvPr/>
        </p:nvSpPr>
        <p:spPr>
          <a:xfrm>
            <a:off x="457200" y="502920"/>
            <a:ext cx="8229600" cy="594360"/>
          </a:xfrm>
          <a:prstGeom prst="rect">
            <a:avLst/>
          </a:prstGeom>
          <a:noFill/>
          <a:ln/>
        </p:spPr>
        <p:txBody>
          <a:bodyPr wrap="square" lIns="0" tIns="0" rIns="0" bIns="0" rtlCol="0" anchor="ctr"/>
          <a:lstStyle/>
          <a:p>
            <a:pPr indent="0" marL="0">
              <a:buNone/>
            </a:pPr>
            <a:r>
              <a:rPr lang="en-US" sz="3000" b="1" dirty="0">
                <a:solidFill>
                  <a:srgbClr val="15172E"/>
                </a:solidFill>
                <a:latin typeface="Cambria" pitchFamily="34" charset="0"/>
                <a:ea typeface="Cambria" pitchFamily="34" charset="-122"/>
                <a:cs typeface="Cambria" pitchFamily="34" charset="-120"/>
              </a:rPr>
              <a:t>Perception building blocks</a:t>
            </a:r>
            <a:endParaRPr lang="en-US" sz="3000" dirty="0"/>
          </a:p>
        </p:txBody>
      </p:sp>
      <p:sp>
        <p:nvSpPr>
          <p:cNvPr id="4" name="Shape 2"/>
          <p:cNvSpPr/>
          <p:nvPr/>
        </p:nvSpPr>
        <p:spPr>
          <a:xfrm>
            <a:off x="457200" y="1234440"/>
            <a:ext cx="685800" cy="685800"/>
          </a:xfrm>
          <a:prstGeom prst="ellipse">
            <a:avLst/>
          </a:prstGeom>
          <a:solidFill>
            <a:srgbClr val="15172E"/>
          </a:solidFill>
          <a:ln w="12700">
            <a:solidFill>
              <a:srgbClr val="15172E"/>
            </a:solidFill>
            <a:prstDash val="solid"/>
          </a:ln>
        </p:spPr>
      </p:sp>
      <p:pic>
        <p:nvPicPr>
          <p:cNvPr id="5" name="Image 0" descr="preencoded.png">    </p:cNvPr>
          <p:cNvPicPr>
            <a:picLocks noChangeAspect="1"/>
          </p:cNvPicPr>
          <p:nvPr/>
        </p:nvPicPr>
        <p:blipFill>
          <a:blip r:embed="rId1"/>
          <a:stretch>
            <a:fillRect/>
          </a:stretch>
        </p:blipFill>
        <p:spPr>
          <a:xfrm>
            <a:off x="628650" y="1405890"/>
            <a:ext cx="342900" cy="342900"/>
          </a:xfrm>
          <a:prstGeom prst="rect">
            <a:avLst/>
          </a:prstGeom>
        </p:spPr>
      </p:pic>
      <p:sp>
        <p:nvSpPr>
          <p:cNvPr id="6" name="Text 3"/>
          <p:cNvSpPr txBox="1"/>
          <p:nvPr/>
        </p:nvSpPr>
        <p:spPr>
          <a:xfrm>
            <a:off x="1325880" y="1234440"/>
            <a:ext cx="3154680" cy="292608"/>
          </a:xfrm>
          <a:prstGeom prst="rect">
            <a:avLst/>
          </a:prstGeom>
          <a:noFill/>
          <a:ln/>
        </p:spPr>
        <p:txBody>
          <a:bodyPr wrap="square" lIns="0" tIns="0" rIns="0" bIns="0" rtlCol="0" anchor="ctr"/>
          <a:lstStyle/>
          <a:p>
            <a:pPr indent="0" marL="0">
              <a:buNone/>
            </a:pPr>
            <a:r>
              <a:rPr lang="en-US" sz="1400" b="1" dirty="0">
                <a:solidFill>
                  <a:srgbClr val="1D1F33"/>
                </a:solidFill>
                <a:latin typeface="Calibri" pitchFamily="34" charset="0"/>
                <a:ea typeface="Calibri" pitchFamily="34" charset="-122"/>
                <a:cs typeface="Calibri" pitchFamily="34" charset="-120"/>
              </a:rPr>
              <a:t>15  ·  ArUco markers</a:t>
            </a:r>
            <a:endParaRPr lang="en-US" sz="1400" dirty="0"/>
          </a:p>
        </p:txBody>
      </p:sp>
      <p:sp>
        <p:nvSpPr>
          <p:cNvPr id="7" name="Text 4"/>
          <p:cNvSpPr txBox="1"/>
          <p:nvPr/>
        </p:nvSpPr>
        <p:spPr>
          <a:xfrm>
            <a:off x="1325880" y="1527048"/>
            <a:ext cx="3154680" cy="237744"/>
          </a:xfrm>
          <a:prstGeom prst="rect">
            <a:avLst/>
          </a:prstGeom>
          <a:noFill/>
          <a:ln/>
        </p:spPr>
        <p:txBody>
          <a:bodyPr wrap="square" lIns="0" tIns="0" rIns="0" bIns="0" rtlCol="0" anchor="ctr"/>
          <a:lstStyle/>
          <a:p>
            <a:pPr indent="0" marL="0">
              <a:buNone/>
            </a:pPr>
            <a:r>
              <a:rPr lang="en-US" sz="1050" dirty="0">
                <a:solidFill>
                  <a:srgbClr val="5B5FC7"/>
                </a:solidFill>
                <a:latin typeface="Calibri" pitchFamily="34" charset="0"/>
                <a:ea typeface="Calibri" pitchFamily="34" charset="-122"/>
                <a:cs typeface="Calibri" pitchFamily="34" charset="-120"/>
              </a:rPr>
              <a:t>Garrido-Jurado et al., Pattern Recognition 2014</a:t>
            </a:r>
            <a:endParaRPr lang="en-US" sz="1050" dirty="0"/>
          </a:p>
        </p:txBody>
      </p:sp>
      <p:sp>
        <p:nvSpPr>
          <p:cNvPr id="8" name="Text 5"/>
          <p:cNvSpPr txBox="1"/>
          <p:nvPr/>
        </p:nvSpPr>
        <p:spPr>
          <a:xfrm>
            <a:off x="1325880" y="1801368"/>
            <a:ext cx="3154680" cy="685800"/>
          </a:xfrm>
          <a:prstGeom prst="rect">
            <a:avLst/>
          </a:prstGeom>
          <a:noFill/>
          <a:ln/>
        </p:spPr>
        <p:txBody>
          <a:bodyPr wrap="square" lIns="0" tIns="0" rIns="0" bIns="0" rtlCol="0" anchor="t"/>
          <a:lstStyle/>
          <a:p>
            <a:pPr indent="0" marL="0">
              <a:buNone/>
            </a:pPr>
            <a:r>
              <a:rPr lang="en-US" sz="1200" dirty="0">
                <a:solidFill>
                  <a:srgbClr val="5E6280"/>
                </a:solidFill>
                <a:latin typeface="Calibri" pitchFamily="34" charset="0"/>
                <a:ea typeface="Calibri" pitchFamily="34" charset="-122"/>
                <a:cs typeface="Calibri" pitchFamily="34" charset="-120"/>
              </a:rPr>
              <a:t>Reliable reference points under occlusion; maps the camera onto the jigsaw board</a:t>
            </a:r>
            <a:endParaRPr lang="en-US" sz="1200" dirty="0"/>
          </a:p>
        </p:txBody>
      </p:sp>
      <p:sp>
        <p:nvSpPr>
          <p:cNvPr id="9" name="Shape 6"/>
          <p:cNvSpPr/>
          <p:nvPr/>
        </p:nvSpPr>
        <p:spPr>
          <a:xfrm>
            <a:off x="4663440" y="1234440"/>
            <a:ext cx="685800" cy="685800"/>
          </a:xfrm>
          <a:prstGeom prst="ellipse">
            <a:avLst/>
          </a:prstGeom>
          <a:solidFill>
            <a:srgbClr val="15172E"/>
          </a:solidFill>
          <a:ln w="12700">
            <a:solidFill>
              <a:srgbClr val="15172E"/>
            </a:solidFill>
            <a:prstDash val="solid"/>
          </a:ln>
        </p:spPr>
      </p:sp>
      <p:pic>
        <p:nvPicPr>
          <p:cNvPr id="10" name="Image 1" descr="preencoded.png">    </p:cNvPr>
          <p:cNvPicPr>
            <a:picLocks noChangeAspect="1"/>
          </p:cNvPicPr>
          <p:nvPr/>
        </p:nvPicPr>
        <p:blipFill>
          <a:blip r:embed="rId2"/>
          <a:stretch>
            <a:fillRect/>
          </a:stretch>
        </p:blipFill>
        <p:spPr>
          <a:xfrm>
            <a:off x="4834890" y="1405890"/>
            <a:ext cx="342900" cy="342900"/>
          </a:xfrm>
          <a:prstGeom prst="rect">
            <a:avLst/>
          </a:prstGeom>
        </p:spPr>
      </p:pic>
      <p:sp>
        <p:nvSpPr>
          <p:cNvPr id="11" name="Text 7"/>
          <p:cNvSpPr txBox="1"/>
          <p:nvPr/>
        </p:nvSpPr>
        <p:spPr>
          <a:xfrm>
            <a:off x="5532120" y="1234440"/>
            <a:ext cx="3154680" cy="292608"/>
          </a:xfrm>
          <a:prstGeom prst="rect">
            <a:avLst/>
          </a:prstGeom>
          <a:noFill/>
          <a:ln/>
        </p:spPr>
        <p:txBody>
          <a:bodyPr wrap="square" lIns="0" tIns="0" rIns="0" bIns="0" rtlCol="0" anchor="ctr"/>
          <a:lstStyle/>
          <a:p>
            <a:pPr indent="0" marL="0">
              <a:buNone/>
            </a:pPr>
            <a:r>
              <a:rPr lang="en-US" sz="1400" b="1" dirty="0">
                <a:solidFill>
                  <a:srgbClr val="1D1F33"/>
                </a:solidFill>
                <a:latin typeface="Calibri" pitchFamily="34" charset="0"/>
                <a:ea typeface="Calibri" pitchFamily="34" charset="-122"/>
                <a:cs typeface="Calibri" pitchFamily="34" charset="-120"/>
              </a:rPr>
              <a:t>16  ·  MediaPipe Hands</a:t>
            </a:r>
            <a:endParaRPr lang="en-US" sz="1400" dirty="0"/>
          </a:p>
        </p:txBody>
      </p:sp>
      <p:sp>
        <p:nvSpPr>
          <p:cNvPr id="12" name="Text 8"/>
          <p:cNvSpPr txBox="1"/>
          <p:nvPr/>
        </p:nvSpPr>
        <p:spPr>
          <a:xfrm>
            <a:off x="5532120" y="1527048"/>
            <a:ext cx="3154680" cy="237744"/>
          </a:xfrm>
          <a:prstGeom prst="rect">
            <a:avLst/>
          </a:prstGeom>
          <a:noFill/>
          <a:ln/>
        </p:spPr>
        <p:txBody>
          <a:bodyPr wrap="square" lIns="0" tIns="0" rIns="0" bIns="0" rtlCol="0" anchor="ctr"/>
          <a:lstStyle/>
          <a:p>
            <a:pPr indent="0" marL="0">
              <a:buNone/>
            </a:pPr>
            <a:r>
              <a:rPr lang="en-US" sz="1050" dirty="0">
                <a:solidFill>
                  <a:srgbClr val="5B5FC7"/>
                </a:solidFill>
                <a:latin typeface="Calibri" pitchFamily="34" charset="0"/>
                <a:ea typeface="Calibri" pitchFamily="34" charset="-122"/>
                <a:cs typeface="Calibri" pitchFamily="34" charset="-120"/>
              </a:rPr>
              <a:t>Zhang et al., CVPR Workshops 2020</a:t>
            </a:r>
            <a:endParaRPr lang="en-US" sz="1050" dirty="0"/>
          </a:p>
        </p:txBody>
      </p:sp>
      <p:sp>
        <p:nvSpPr>
          <p:cNvPr id="13" name="Text 9"/>
          <p:cNvSpPr txBox="1"/>
          <p:nvPr/>
        </p:nvSpPr>
        <p:spPr>
          <a:xfrm>
            <a:off x="5532120" y="1801368"/>
            <a:ext cx="3154680" cy="685800"/>
          </a:xfrm>
          <a:prstGeom prst="rect">
            <a:avLst/>
          </a:prstGeom>
          <a:noFill/>
          <a:ln/>
        </p:spPr>
        <p:txBody>
          <a:bodyPr wrap="square" lIns="0" tIns="0" rIns="0" bIns="0" rtlCol="0" anchor="t"/>
          <a:lstStyle/>
          <a:p>
            <a:pPr indent="0" marL="0">
              <a:buNone/>
            </a:pPr>
            <a:r>
              <a:rPr lang="en-US" sz="1200" dirty="0">
                <a:solidFill>
                  <a:srgbClr val="5E6280"/>
                </a:solidFill>
                <a:latin typeface="Calibri" pitchFamily="34" charset="0"/>
                <a:ea typeface="Calibri" pitchFamily="34" charset="-122"/>
                <a:cs typeface="Calibri" pitchFamily="34" charset="-120"/>
              </a:rPr>
              <a:t>21 hand landmarks in real time; we don't judge the scene while a hand covers it</a:t>
            </a:r>
            <a:endParaRPr lang="en-US" sz="1200" dirty="0"/>
          </a:p>
        </p:txBody>
      </p:sp>
      <p:sp>
        <p:nvSpPr>
          <p:cNvPr id="14" name="Shape 10"/>
          <p:cNvSpPr/>
          <p:nvPr/>
        </p:nvSpPr>
        <p:spPr>
          <a:xfrm>
            <a:off x="457200" y="2834640"/>
            <a:ext cx="685800" cy="685800"/>
          </a:xfrm>
          <a:prstGeom prst="ellipse">
            <a:avLst/>
          </a:prstGeom>
          <a:solidFill>
            <a:srgbClr val="15172E"/>
          </a:solidFill>
          <a:ln w="12700">
            <a:solidFill>
              <a:srgbClr val="15172E"/>
            </a:solidFill>
            <a:prstDash val="solid"/>
          </a:ln>
        </p:spPr>
      </p:sp>
      <p:pic>
        <p:nvPicPr>
          <p:cNvPr id="15" name="Image 2" descr="preencoded.png">    </p:cNvPr>
          <p:cNvPicPr>
            <a:picLocks noChangeAspect="1"/>
          </p:cNvPicPr>
          <p:nvPr/>
        </p:nvPicPr>
        <p:blipFill>
          <a:blip r:embed="rId3"/>
          <a:stretch>
            <a:fillRect/>
          </a:stretch>
        </p:blipFill>
        <p:spPr>
          <a:xfrm>
            <a:off x="628650" y="3006090"/>
            <a:ext cx="342900" cy="342900"/>
          </a:xfrm>
          <a:prstGeom prst="rect">
            <a:avLst/>
          </a:prstGeom>
        </p:spPr>
      </p:pic>
      <p:sp>
        <p:nvSpPr>
          <p:cNvPr id="16" name="Text 11"/>
          <p:cNvSpPr txBox="1"/>
          <p:nvPr/>
        </p:nvSpPr>
        <p:spPr>
          <a:xfrm>
            <a:off x="1325880" y="2834640"/>
            <a:ext cx="3154680" cy="292608"/>
          </a:xfrm>
          <a:prstGeom prst="rect">
            <a:avLst/>
          </a:prstGeom>
          <a:noFill/>
          <a:ln/>
        </p:spPr>
        <p:txBody>
          <a:bodyPr wrap="square" lIns="0" tIns="0" rIns="0" bIns="0" rtlCol="0" anchor="ctr"/>
          <a:lstStyle/>
          <a:p>
            <a:pPr indent="0" marL="0">
              <a:buNone/>
            </a:pPr>
            <a:r>
              <a:rPr lang="en-US" sz="1400" b="1" dirty="0">
                <a:solidFill>
                  <a:srgbClr val="1D1F33"/>
                </a:solidFill>
                <a:latin typeface="Calibri" pitchFamily="34" charset="0"/>
                <a:ea typeface="Calibri" pitchFamily="34" charset="-122"/>
                <a:cs typeface="Calibri" pitchFamily="34" charset="-120"/>
              </a:rPr>
              <a:t>17  ·  YOLO-World</a:t>
            </a:r>
            <a:endParaRPr lang="en-US" sz="1400" dirty="0"/>
          </a:p>
        </p:txBody>
      </p:sp>
      <p:sp>
        <p:nvSpPr>
          <p:cNvPr id="17" name="Text 12"/>
          <p:cNvSpPr txBox="1"/>
          <p:nvPr/>
        </p:nvSpPr>
        <p:spPr>
          <a:xfrm>
            <a:off x="1325880" y="3127248"/>
            <a:ext cx="3154680" cy="237744"/>
          </a:xfrm>
          <a:prstGeom prst="rect">
            <a:avLst/>
          </a:prstGeom>
          <a:noFill/>
          <a:ln/>
        </p:spPr>
        <p:txBody>
          <a:bodyPr wrap="square" lIns="0" tIns="0" rIns="0" bIns="0" rtlCol="0" anchor="ctr"/>
          <a:lstStyle/>
          <a:p>
            <a:pPr indent="0" marL="0">
              <a:buNone/>
            </a:pPr>
            <a:r>
              <a:rPr lang="en-US" sz="1050" dirty="0">
                <a:solidFill>
                  <a:srgbClr val="5B5FC7"/>
                </a:solidFill>
                <a:latin typeface="Calibri" pitchFamily="34" charset="0"/>
                <a:ea typeface="Calibri" pitchFamily="34" charset="-122"/>
                <a:cs typeface="Calibri" pitchFamily="34" charset="-120"/>
              </a:rPr>
              <a:t>Cheng et al., CVPR 2024</a:t>
            </a:r>
            <a:endParaRPr lang="en-US" sz="1050" dirty="0"/>
          </a:p>
        </p:txBody>
      </p:sp>
      <p:sp>
        <p:nvSpPr>
          <p:cNvPr id="18" name="Text 13"/>
          <p:cNvSpPr txBox="1"/>
          <p:nvPr/>
        </p:nvSpPr>
        <p:spPr>
          <a:xfrm>
            <a:off x="1325880" y="3401568"/>
            <a:ext cx="3154680" cy="685800"/>
          </a:xfrm>
          <a:prstGeom prst="rect">
            <a:avLst/>
          </a:prstGeom>
          <a:noFill/>
          <a:ln/>
        </p:spPr>
        <p:txBody>
          <a:bodyPr wrap="square" lIns="0" tIns="0" rIns="0" bIns="0" rtlCol="0" anchor="t"/>
          <a:lstStyle/>
          <a:p>
            <a:pPr indent="0" marL="0">
              <a:buNone/>
            </a:pPr>
            <a:r>
              <a:rPr lang="en-US" sz="1200" dirty="0">
                <a:solidFill>
                  <a:srgbClr val="5E6280"/>
                </a:solidFill>
                <a:latin typeface="Calibri" pitchFamily="34" charset="0"/>
                <a:ea typeface="Calibri" pitchFamily="34" charset="-122"/>
                <a:cs typeface="Calibri" pitchFamily="34" charset="-120"/>
              </a:rPr>
              <a:t>Open-vocabulary detection from a text prompt, no task-specific training</a:t>
            </a:r>
            <a:endParaRPr lang="en-US" sz="1200" dirty="0"/>
          </a:p>
        </p:txBody>
      </p:sp>
      <p:sp>
        <p:nvSpPr>
          <p:cNvPr id="19" name="Shape 14"/>
          <p:cNvSpPr/>
          <p:nvPr/>
        </p:nvSpPr>
        <p:spPr>
          <a:xfrm>
            <a:off x="4663440" y="2834640"/>
            <a:ext cx="685800" cy="685800"/>
          </a:xfrm>
          <a:prstGeom prst="ellipse">
            <a:avLst/>
          </a:prstGeom>
          <a:solidFill>
            <a:srgbClr val="15172E"/>
          </a:solidFill>
          <a:ln w="12700">
            <a:solidFill>
              <a:srgbClr val="15172E"/>
            </a:solidFill>
            <a:prstDash val="solid"/>
          </a:ln>
        </p:spPr>
      </p:sp>
      <p:pic>
        <p:nvPicPr>
          <p:cNvPr id="20" name="Image 3" descr="preencoded.png">    </p:cNvPr>
          <p:cNvPicPr>
            <a:picLocks noChangeAspect="1"/>
          </p:cNvPicPr>
          <p:nvPr/>
        </p:nvPicPr>
        <p:blipFill>
          <a:blip r:embed="rId4"/>
          <a:stretch>
            <a:fillRect/>
          </a:stretch>
        </p:blipFill>
        <p:spPr>
          <a:xfrm>
            <a:off x="4834890" y="3006090"/>
            <a:ext cx="342900" cy="342900"/>
          </a:xfrm>
          <a:prstGeom prst="rect">
            <a:avLst/>
          </a:prstGeom>
        </p:spPr>
      </p:pic>
      <p:sp>
        <p:nvSpPr>
          <p:cNvPr id="21" name="Text 15"/>
          <p:cNvSpPr txBox="1"/>
          <p:nvPr/>
        </p:nvSpPr>
        <p:spPr>
          <a:xfrm>
            <a:off x="5532120" y="2834640"/>
            <a:ext cx="3154680" cy="292608"/>
          </a:xfrm>
          <a:prstGeom prst="rect">
            <a:avLst/>
          </a:prstGeom>
          <a:noFill/>
          <a:ln/>
        </p:spPr>
        <p:txBody>
          <a:bodyPr wrap="square" lIns="0" tIns="0" rIns="0" bIns="0" rtlCol="0" anchor="ctr"/>
          <a:lstStyle/>
          <a:p>
            <a:pPr indent="0" marL="0">
              <a:buNone/>
            </a:pPr>
            <a:r>
              <a:rPr lang="en-US" sz="1400" b="1" dirty="0">
                <a:solidFill>
                  <a:srgbClr val="1D1F33"/>
                </a:solidFill>
                <a:latin typeface="Calibri" pitchFamily="34" charset="0"/>
                <a:ea typeface="Calibri" pitchFamily="34" charset="-122"/>
                <a:cs typeface="Calibri" pitchFamily="34" charset="-120"/>
              </a:rPr>
              <a:t>18  ·  Rotation-aware jigsaw</a:t>
            </a:r>
            <a:endParaRPr lang="en-US" sz="1400" dirty="0"/>
          </a:p>
        </p:txBody>
      </p:sp>
      <p:sp>
        <p:nvSpPr>
          <p:cNvPr id="22" name="Text 16"/>
          <p:cNvSpPr txBox="1"/>
          <p:nvPr/>
        </p:nvSpPr>
        <p:spPr>
          <a:xfrm>
            <a:off x="5532120" y="3127248"/>
            <a:ext cx="3154680" cy="237744"/>
          </a:xfrm>
          <a:prstGeom prst="rect">
            <a:avLst/>
          </a:prstGeom>
          <a:noFill/>
          <a:ln/>
        </p:spPr>
        <p:txBody>
          <a:bodyPr wrap="square" lIns="0" tIns="0" rIns="0" bIns="0" rtlCol="0" anchor="ctr"/>
          <a:lstStyle/>
          <a:p>
            <a:pPr indent="0" marL="0">
              <a:buNone/>
            </a:pPr>
            <a:r>
              <a:rPr lang="en-US" sz="1050" dirty="0">
                <a:solidFill>
                  <a:srgbClr val="5B5FC7"/>
                </a:solidFill>
                <a:latin typeface="Calibri" pitchFamily="34" charset="0"/>
                <a:ea typeface="Calibri" pitchFamily="34" charset="-122"/>
                <a:cs typeface="Calibri" pitchFamily="34" charset="-120"/>
              </a:rPr>
              <a:t>Gallagher, CVPR 2012</a:t>
            </a:r>
            <a:endParaRPr lang="en-US" sz="1050" dirty="0"/>
          </a:p>
        </p:txBody>
      </p:sp>
      <p:sp>
        <p:nvSpPr>
          <p:cNvPr id="23" name="Text 17"/>
          <p:cNvSpPr txBox="1"/>
          <p:nvPr/>
        </p:nvSpPr>
        <p:spPr>
          <a:xfrm>
            <a:off x="5532120" y="3401568"/>
            <a:ext cx="3154680" cy="685800"/>
          </a:xfrm>
          <a:prstGeom prst="rect">
            <a:avLst/>
          </a:prstGeom>
          <a:noFill/>
          <a:ln/>
        </p:spPr>
        <p:txBody>
          <a:bodyPr wrap="square" lIns="0" tIns="0" rIns="0" bIns="0" rtlCol="0" anchor="t"/>
          <a:lstStyle/>
          <a:p>
            <a:pPr indent="0" marL="0">
              <a:buNone/>
            </a:pPr>
            <a:r>
              <a:rPr lang="en-US" sz="1200" dirty="0">
                <a:solidFill>
                  <a:srgbClr val="5E6280"/>
                </a:solidFill>
                <a:latin typeface="Calibri" pitchFamily="34" charset="0"/>
                <a:ea typeface="Calibri" pitchFamily="34" charset="-122"/>
                <a:cs typeface="Calibri" pitchFamily="34" charset="-120"/>
              </a:rPr>
              <a:t>Appearance matching with rotation; we match pieces against the box picture</a:t>
            </a:r>
            <a:endParaRPr lang="en-US" sz="1200" dirty="0"/>
          </a:p>
        </p:txBody>
      </p:sp>
      <p:sp>
        <p:nvSpPr>
          <p:cNvPr id="24" name="Text 18"/>
          <p:cNvSpPr txBox="1"/>
          <p:nvPr/>
        </p:nvSpPr>
        <p:spPr>
          <a:xfrm>
            <a:off x="6400800" y="4754880"/>
            <a:ext cx="2286000" cy="228600"/>
          </a:xfrm>
          <a:prstGeom prst="rect">
            <a:avLst/>
          </a:prstGeom>
          <a:noFill/>
          <a:ln/>
        </p:spPr>
        <p:txBody>
          <a:bodyPr wrap="square" lIns="0" tIns="0" rIns="0" bIns="0" rtlCol="0" anchor="ctr"/>
          <a:lstStyle/>
          <a:p>
            <a:pPr algn="r" indent="0" marL="0">
              <a:buNone/>
            </a:pPr>
            <a:r>
              <a:rPr lang="en-US" sz="1000" i="1" dirty="0">
                <a:solidFill>
                  <a:srgbClr val="5E6280"/>
                </a:solidFill>
                <a:latin typeface="Calibri" pitchFamily="34" charset="0"/>
                <a:ea typeface="Calibri" pitchFamily="34" charset="-122"/>
                <a:cs typeface="Calibri" pitchFamily="34" charset="-120"/>
              </a:rPr>
              <a:t>Mitul KM</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1F2F8"/>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28600"/>
          </a:xfrm>
          <a:prstGeom prst="rect">
            <a:avLst/>
          </a:prstGeom>
          <a:noFill/>
          <a:ln/>
        </p:spPr>
        <p:txBody>
          <a:bodyPr wrap="square" lIns="0" tIns="0" rIns="0" bIns="0" rtlCol="0" anchor="ctr"/>
          <a:lstStyle/>
          <a:p>
            <a:pPr indent="0" marL="0">
              <a:buNone/>
            </a:pPr>
            <a:r>
              <a:rPr lang="en-US" sz="1100" b="1" spc="200" kern="0" dirty="0">
                <a:solidFill>
                  <a:srgbClr val="5B5FC7"/>
                </a:solidFill>
                <a:latin typeface="Calibri" pitchFamily="34" charset="0"/>
                <a:ea typeface="Calibri" pitchFamily="34" charset="-122"/>
                <a:cs typeface="Calibri" pitchFamily="34" charset="-120"/>
              </a:rPr>
              <a:t>FROM THE SURVEY</a:t>
            </a:r>
            <a:endParaRPr lang="en-US" sz="1100" dirty="0"/>
          </a:p>
        </p:txBody>
      </p:sp>
      <p:sp>
        <p:nvSpPr>
          <p:cNvPr id="3" name="Text 1"/>
          <p:cNvSpPr txBox="1"/>
          <p:nvPr/>
        </p:nvSpPr>
        <p:spPr>
          <a:xfrm>
            <a:off x="457200" y="502920"/>
            <a:ext cx="8229600" cy="594360"/>
          </a:xfrm>
          <a:prstGeom prst="rect">
            <a:avLst/>
          </a:prstGeom>
          <a:noFill/>
          <a:ln/>
        </p:spPr>
        <p:txBody>
          <a:bodyPr wrap="square" lIns="0" tIns="0" rIns="0" bIns="0" rtlCol="0" anchor="ctr"/>
          <a:lstStyle/>
          <a:p>
            <a:pPr indent="0" marL="0">
              <a:buNone/>
            </a:pPr>
            <a:r>
              <a:rPr lang="en-US" sz="3000" b="1" dirty="0">
                <a:solidFill>
                  <a:srgbClr val="15172E"/>
                </a:solidFill>
                <a:latin typeface="Cambria" pitchFamily="34" charset="0"/>
                <a:ea typeface="Cambria" pitchFamily="34" charset="-122"/>
                <a:cs typeface="Cambria" pitchFamily="34" charset="-120"/>
              </a:rPr>
              <a:t>Five research gaps</a:t>
            </a:r>
            <a:endParaRPr lang="en-US" sz="3000" dirty="0"/>
          </a:p>
        </p:txBody>
      </p:sp>
      <p:sp>
        <p:nvSpPr>
          <p:cNvPr id="4" name="Shape 2"/>
          <p:cNvSpPr/>
          <p:nvPr/>
        </p:nvSpPr>
        <p:spPr>
          <a:xfrm>
            <a:off x="457200" y="1234440"/>
            <a:ext cx="8229600" cy="566928"/>
          </a:xfrm>
          <a:prstGeom prst="roundRect">
            <a:avLst>
              <a:gd name="adj" fmla="val 12903"/>
            </a:avLst>
          </a:prstGeom>
          <a:solidFill>
            <a:srgbClr val="FFFFFF"/>
          </a:solidFill>
          <a:ln w="12700">
            <a:solidFill>
              <a:srgbClr val="FFFFFF"/>
            </a:solidFill>
            <a:prstDash val="solid"/>
          </a:ln>
        </p:spPr>
      </p:sp>
      <p:sp>
        <p:nvSpPr>
          <p:cNvPr id="5" name="Shape 3"/>
          <p:cNvSpPr/>
          <p:nvPr/>
        </p:nvSpPr>
        <p:spPr>
          <a:xfrm>
            <a:off x="594360" y="1325880"/>
            <a:ext cx="384048" cy="384048"/>
          </a:xfrm>
          <a:prstGeom prst="ellipse">
            <a:avLst/>
          </a:prstGeom>
          <a:solidFill>
            <a:srgbClr val="F2A541"/>
          </a:solidFill>
          <a:ln w="12700">
            <a:solidFill>
              <a:srgbClr val="F2A541"/>
            </a:solidFill>
            <a:prstDash val="solid"/>
          </a:ln>
        </p:spPr>
      </p:sp>
      <p:sp>
        <p:nvSpPr>
          <p:cNvPr id="6" name="Text 4"/>
          <p:cNvSpPr txBox="1"/>
          <p:nvPr/>
        </p:nvSpPr>
        <p:spPr>
          <a:xfrm>
            <a:off x="594360" y="1325880"/>
            <a:ext cx="384048" cy="384048"/>
          </a:xfrm>
          <a:prstGeom prst="rect">
            <a:avLst/>
          </a:prstGeom>
          <a:noFill/>
          <a:ln/>
        </p:spPr>
        <p:txBody>
          <a:bodyPr wrap="square" lIns="0" tIns="0" rIns="0" bIns="0" rtlCol="0" anchor="ctr"/>
          <a:lstStyle/>
          <a:p>
            <a:pPr algn="ctr" indent="0" marL="0">
              <a:buNone/>
            </a:pPr>
            <a:r>
              <a:rPr lang="en-US" sz="924" b="1" dirty="0">
                <a:solidFill>
                  <a:srgbClr val="15172E"/>
                </a:solidFill>
                <a:latin typeface="Cambria" pitchFamily="34" charset="0"/>
                <a:ea typeface="Cambria" pitchFamily="34" charset="-122"/>
                <a:cs typeface="Cambria" pitchFamily="34" charset="-120"/>
              </a:rPr>
              <a:t>1</a:t>
            </a:r>
            <a:endParaRPr lang="en-US" sz="924" dirty="0"/>
          </a:p>
        </p:txBody>
      </p:sp>
      <p:sp>
        <p:nvSpPr>
          <p:cNvPr id="7" name="Text 5"/>
          <p:cNvSpPr txBox="1"/>
          <p:nvPr/>
        </p:nvSpPr>
        <p:spPr>
          <a:xfrm>
            <a:off x="1188720" y="1234440"/>
            <a:ext cx="2194560" cy="566928"/>
          </a:xfrm>
          <a:prstGeom prst="rect">
            <a:avLst/>
          </a:prstGeom>
          <a:noFill/>
          <a:ln/>
        </p:spPr>
        <p:txBody>
          <a:bodyPr wrap="square" lIns="0" tIns="0" rIns="0" bIns="0" rtlCol="0" anchor="ctr"/>
          <a:lstStyle/>
          <a:p>
            <a:pPr indent="0" marL="0">
              <a:buNone/>
            </a:pPr>
            <a:r>
              <a:rPr lang="en-US" sz="1500" b="1" dirty="0">
                <a:solidFill>
                  <a:srgbClr val="1D1F33"/>
                </a:solidFill>
                <a:latin typeface="Calibri" pitchFamily="34" charset="0"/>
                <a:ea typeface="Calibri" pitchFamily="34" charset="-122"/>
                <a:cs typeface="Calibri" pitchFamily="34" charset="-120"/>
              </a:rPr>
              <a:t>Per-task training</a:t>
            </a:r>
            <a:endParaRPr lang="en-US" sz="1500" dirty="0"/>
          </a:p>
        </p:txBody>
      </p:sp>
      <p:sp>
        <p:nvSpPr>
          <p:cNvPr id="8" name="Text 6"/>
          <p:cNvSpPr txBox="1"/>
          <p:nvPr/>
        </p:nvSpPr>
        <p:spPr>
          <a:xfrm>
            <a:off x="3383280" y="1234440"/>
            <a:ext cx="5120640" cy="566928"/>
          </a:xfrm>
          <a:prstGeom prst="rect">
            <a:avLst/>
          </a:prstGeom>
          <a:noFill/>
          <a:ln/>
        </p:spPr>
        <p:txBody>
          <a:bodyPr wrap="square" lIns="0" tIns="0" rIns="0" bIns="0" rtlCol="0" anchor="ctr"/>
          <a:lstStyle/>
          <a:p>
            <a:pPr indent="0" marL="0">
              <a:buNone/>
            </a:pPr>
            <a:r>
              <a:rPr lang="en-US" sz="1250" dirty="0">
                <a:solidFill>
                  <a:srgbClr val="5E6280"/>
                </a:solidFill>
                <a:latin typeface="Calibri" pitchFamily="34" charset="0"/>
                <a:ea typeface="Calibri" pitchFamily="34" charset="-122"/>
                <a:cs typeface="Calibri" pitchFamily="34" charset="-120"/>
              </a:rPr>
              <a:t>A new procedure needs new labelled video and a new model.</a:t>
            </a:r>
            <a:endParaRPr lang="en-US" sz="1250" dirty="0"/>
          </a:p>
        </p:txBody>
      </p:sp>
      <p:sp>
        <p:nvSpPr>
          <p:cNvPr id="9" name="Shape 7"/>
          <p:cNvSpPr/>
          <p:nvPr/>
        </p:nvSpPr>
        <p:spPr>
          <a:xfrm>
            <a:off x="457200" y="1911096"/>
            <a:ext cx="8229600" cy="566928"/>
          </a:xfrm>
          <a:prstGeom prst="roundRect">
            <a:avLst>
              <a:gd name="adj" fmla="val 12903"/>
            </a:avLst>
          </a:prstGeom>
          <a:solidFill>
            <a:srgbClr val="FFFFFF"/>
          </a:solidFill>
          <a:ln w="12700">
            <a:solidFill>
              <a:srgbClr val="FFFFFF"/>
            </a:solidFill>
            <a:prstDash val="solid"/>
          </a:ln>
        </p:spPr>
      </p:sp>
      <p:sp>
        <p:nvSpPr>
          <p:cNvPr id="10" name="Shape 8"/>
          <p:cNvSpPr/>
          <p:nvPr/>
        </p:nvSpPr>
        <p:spPr>
          <a:xfrm>
            <a:off x="594360" y="2002536"/>
            <a:ext cx="384048" cy="384048"/>
          </a:xfrm>
          <a:prstGeom prst="ellipse">
            <a:avLst/>
          </a:prstGeom>
          <a:solidFill>
            <a:srgbClr val="F2A541"/>
          </a:solidFill>
          <a:ln w="12700">
            <a:solidFill>
              <a:srgbClr val="F2A541"/>
            </a:solidFill>
            <a:prstDash val="solid"/>
          </a:ln>
        </p:spPr>
      </p:sp>
      <p:sp>
        <p:nvSpPr>
          <p:cNvPr id="11" name="Text 9"/>
          <p:cNvSpPr txBox="1"/>
          <p:nvPr/>
        </p:nvSpPr>
        <p:spPr>
          <a:xfrm>
            <a:off x="594360" y="2002536"/>
            <a:ext cx="384048" cy="384048"/>
          </a:xfrm>
          <a:prstGeom prst="rect">
            <a:avLst/>
          </a:prstGeom>
          <a:noFill/>
          <a:ln/>
        </p:spPr>
        <p:txBody>
          <a:bodyPr wrap="square" lIns="0" tIns="0" rIns="0" bIns="0" rtlCol="0" anchor="ctr"/>
          <a:lstStyle/>
          <a:p>
            <a:pPr algn="ctr" indent="0" marL="0">
              <a:buNone/>
            </a:pPr>
            <a:r>
              <a:rPr lang="en-US" sz="924" b="1" dirty="0">
                <a:solidFill>
                  <a:srgbClr val="15172E"/>
                </a:solidFill>
                <a:latin typeface="Cambria" pitchFamily="34" charset="0"/>
                <a:ea typeface="Cambria" pitchFamily="34" charset="-122"/>
                <a:cs typeface="Cambria" pitchFamily="34" charset="-120"/>
              </a:rPr>
              <a:t>2</a:t>
            </a:r>
            <a:endParaRPr lang="en-US" sz="924" dirty="0"/>
          </a:p>
        </p:txBody>
      </p:sp>
      <p:sp>
        <p:nvSpPr>
          <p:cNvPr id="12" name="Text 10"/>
          <p:cNvSpPr txBox="1"/>
          <p:nvPr/>
        </p:nvSpPr>
        <p:spPr>
          <a:xfrm>
            <a:off x="1188720" y="1911096"/>
            <a:ext cx="2194560" cy="566928"/>
          </a:xfrm>
          <a:prstGeom prst="rect">
            <a:avLst/>
          </a:prstGeom>
          <a:noFill/>
          <a:ln/>
        </p:spPr>
        <p:txBody>
          <a:bodyPr wrap="square" lIns="0" tIns="0" rIns="0" bIns="0" rtlCol="0" anchor="ctr"/>
          <a:lstStyle/>
          <a:p>
            <a:pPr indent="0" marL="0">
              <a:buNone/>
            </a:pPr>
            <a:r>
              <a:rPr lang="en-US" sz="1500" b="1" dirty="0">
                <a:solidFill>
                  <a:srgbClr val="1D1F33"/>
                </a:solidFill>
                <a:latin typeface="Calibri" pitchFamily="34" charset="0"/>
                <a:ea typeface="Calibri" pitchFamily="34" charset="-122"/>
                <a:cs typeface="Calibri" pitchFamily="34" charset="-120"/>
              </a:rPr>
              <a:t>Order only</a:t>
            </a:r>
            <a:endParaRPr lang="en-US" sz="1500" dirty="0"/>
          </a:p>
        </p:txBody>
      </p:sp>
      <p:sp>
        <p:nvSpPr>
          <p:cNvPr id="13" name="Text 11"/>
          <p:cNvSpPr txBox="1"/>
          <p:nvPr/>
        </p:nvSpPr>
        <p:spPr>
          <a:xfrm>
            <a:off x="3383280" y="1911096"/>
            <a:ext cx="5120640" cy="566928"/>
          </a:xfrm>
          <a:prstGeom prst="rect">
            <a:avLst/>
          </a:prstGeom>
          <a:noFill/>
          <a:ln/>
        </p:spPr>
        <p:txBody>
          <a:bodyPr wrap="square" lIns="0" tIns="0" rIns="0" bIns="0" rtlCol="0" anchor="ctr"/>
          <a:lstStyle/>
          <a:p>
            <a:pPr indent="0" marL="0">
              <a:buNone/>
            </a:pPr>
            <a:r>
              <a:rPr lang="en-US" sz="1250" dirty="0">
                <a:solidFill>
                  <a:srgbClr val="5E6280"/>
                </a:solidFill>
                <a:latin typeface="Calibri" pitchFamily="34" charset="0"/>
                <a:ea typeface="Calibri" pitchFamily="34" charset="-122"/>
                <a:cs typeface="Calibri" pitchFamily="34" charset="-120"/>
              </a:rPr>
              <a:t>Task graphs describe sequences; rule-only procedures like Jenga can't be expressed.</a:t>
            </a:r>
            <a:endParaRPr lang="en-US" sz="1250" dirty="0"/>
          </a:p>
        </p:txBody>
      </p:sp>
      <p:sp>
        <p:nvSpPr>
          <p:cNvPr id="14" name="Shape 12"/>
          <p:cNvSpPr/>
          <p:nvPr/>
        </p:nvSpPr>
        <p:spPr>
          <a:xfrm>
            <a:off x="457200" y="2587752"/>
            <a:ext cx="8229600" cy="566928"/>
          </a:xfrm>
          <a:prstGeom prst="roundRect">
            <a:avLst>
              <a:gd name="adj" fmla="val 12903"/>
            </a:avLst>
          </a:prstGeom>
          <a:solidFill>
            <a:srgbClr val="FFFFFF"/>
          </a:solidFill>
          <a:ln w="12700">
            <a:solidFill>
              <a:srgbClr val="FFFFFF"/>
            </a:solidFill>
            <a:prstDash val="solid"/>
          </a:ln>
        </p:spPr>
      </p:sp>
      <p:sp>
        <p:nvSpPr>
          <p:cNvPr id="15" name="Shape 13"/>
          <p:cNvSpPr/>
          <p:nvPr/>
        </p:nvSpPr>
        <p:spPr>
          <a:xfrm>
            <a:off x="594360" y="2679192"/>
            <a:ext cx="384048" cy="384048"/>
          </a:xfrm>
          <a:prstGeom prst="ellipse">
            <a:avLst/>
          </a:prstGeom>
          <a:solidFill>
            <a:srgbClr val="F2A541"/>
          </a:solidFill>
          <a:ln w="12700">
            <a:solidFill>
              <a:srgbClr val="F2A541"/>
            </a:solidFill>
            <a:prstDash val="solid"/>
          </a:ln>
        </p:spPr>
      </p:sp>
      <p:sp>
        <p:nvSpPr>
          <p:cNvPr id="16" name="Text 14"/>
          <p:cNvSpPr txBox="1"/>
          <p:nvPr/>
        </p:nvSpPr>
        <p:spPr>
          <a:xfrm>
            <a:off x="594360" y="2679192"/>
            <a:ext cx="384048" cy="384048"/>
          </a:xfrm>
          <a:prstGeom prst="rect">
            <a:avLst/>
          </a:prstGeom>
          <a:noFill/>
          <a:ln/>
        </p:spPr>
        <p:txBody>
          <a:bodyPr wrap="square" lIns="0" tIns="0" rIns="0" bIns="0" rtlCol="0" anchor="ctr"/>
          <a:lstStyle/>
          <a:p>
            <a:pPr algn="ctr" indent="0" marL="0">
              <a:buNone/>
            </a:pPr>
            <a:r>
              <a:rPr lang="en-US" sz="924" b="1" dirty="0">
                <a:solidFill>
                  <a:srgbClr val="15172E"/>
                </a:solidFill>
                <a:latin typeface="Cambria" pitchFamily="34" charset="0"/>
                <a:ea typeface="Cambria" pitchFamily="34" charset="-122"/>
                <a:cs typeface="Cambria" pitchFamily="34" charset="-120"/>
              </a:rPr>
              <a:t>3</a:t>
            </a:r>
            <a:endParaRPr lang="en-US" sz="924" dirty="0"/>
          </a:p>
        </p:txBody>
      </p:sp>
      <p:sp>
        <p:nvSpPr>
          <p:cNvPr id="17" name="Text 15"/>
          <p:cNvSpPr txBox="1"/>
          <p:nvPr/>
        </p:nvSpPr>
        <p:spPr>
          <a:xfrm>
            <a:off x="1188720" y="2587752"/>
            <a:ext cx="2194560" cy="566928"/>
          </a:xfrm>
          <a:prstGeom prst="rect">
            <a:avLst/>
          </a:prstGeom>
          <a:noFill/>
          <a:ln/>
        </p:spPr>
        <p:txBody>
          <a:bodyPr wrap="square" lIns="0" tIns="0" rIns="0" bIns="0" rtlCol="0" anchor="ctr"/>
          <a:lstStyle/>
          <a:p>
            <a:pPr indent="0" marL="0">
              <a:buNone/>
            </a:pPr>
            <a:r>
              <a:rPr lang="en-US" sz="1500" b="1" dirty="0">
                <a:solidFill>
                  <a:srgbClr val="1D1F33"/>
                </a:solidFill>
                <a:latin typeface="Calibri" pitchFamily="34" charset="0"/>
                <a:ea typeface="Calibri" pitchFamily="34" charset="-122"/>
                <a:cs typeface="Calibri" pitchFamily="34" charset="-120"/>
              </a:rPr>
              <a:t>Actions, not state</a:t>
            </a:r>
            <a:endParaRPr lang="en-US" sz="1500" dirty="0"/>
          </a:p>
        </p:txBody>
      </p:sp>
      <p:sp>
        <p:nvSpPr>
          <p:cNvPr id="18" name="Text 16"/>
          <p:cNvSpPr txBox="1"/>
          <p:nvPr/>
        </p:nvSpPr>
        <p:spPr>
          <a:xfrm>
            <a:off x="3383280" y="2587752"/>
            <a:ext cx="5120640" cy="566928"/>
          </a:xfrm>
          <a:prstGeom prst="rect">
            <a:avLst/>
          </a:prstGeom>
          <a:noFill/>
          <a:ln/>
        </p:spPr>
        <p:txBody>
          <a:bodyPr wrap="square" lIns="0" tIns="0" rIns="0" bIns="0" rtlCol="0" anchor="ctr"/>
          <a:lstStyle/>
          <a:p>
            <a:pPr indent="0" marL="0">
              <a:buNone/>
            </a:pPr>
            <a:r>
              <a:rPr lang="en-US" sz="1250" dirty="0">
                <a:solidFill>
                  <a:srgbClr val="5E6280"/>
                </a:solidFill>
                <a:latin typeface="Calibri" pitchFamily="34" charset="0"/>
                <a:ea typeface="Calibri" pitchFamily="34" charset="-122"/>
                <a:cs typeface="Calibri" pitchFamily="34" charset="-120"/>
              </a:rPr>
              <a:t>"A piece was placed", but not whether it's in the right cell or rotated wrongly.</a:t>
            </a:r>
            <a:endParaRPr lang="en-US" sz="1250" dirty="0"/>
          </a:p>
        </p:txBody>
      </p:sp>
      <p:sp>
        <p:nvSpPr>
          <p:cNvPr id="19" name="Shape 17"/>
          <p:cNvSpPr/>
          <p:nvPr/>
        </p:nvSpPr>
        <p:spPr>
          <a:xfrm>
            <a:off x="457200" y="3264408"/>
            <a:ext cx="8229600" cy="566928"/>
          </a:xfrm>
          <a:prstGeom prst="roundRect">
            <a:avLst>
              <a:gd name="adj" fmla="val 12903"/>
            </a:avLst>
          </a:prstGeom>
          <a:solidFill>
            <a:srgbClr val="FFFFFF"/>
          </a:solidFill>
          <a:ln w="12700">
            <a:solidFill>
              <a:srgbClr val="FFFFFF"/>
            </a:solidFill>
            <a:prstDash val="solid"/>
          </a:ln>
        </p:spPr>
      </p:sp>
      <p:sp>
        <p:nvSpPr>
          <p:cNvPr id="20" name="Shape 18"/>
          <p:cNvSpPr/>
          <p:nvPr/>
        </p:nvSpPr>
        <p:spPr>
          <a:xfrm>
            <a:off x="594360" y="3355848"/>
            <a:ext cx="384048" cy="384048"/>
          </a:xfrm>
          <a:prstGeom prst="ellipse">
            <a:avLst/>
          </a:prstGeom>
          <a:solidFill>
            <a:srgbClr val="F2A541"/>
          </a:solidFill>
          <a:ln w="12700">
            <a:solidFill>
              <a:srgbClr val="F2A541"/>
            </a:solidFill>
            <a:prstDash val="solid"/>
          </a:ln>
        </p:spPr>
      </p:sp>
      <p:sp>
        <p:nvSpPr>
          <p:cNvPr id="21" name="Text 19"/>
          <p:cNvSpPr txBox="1"/>
          <p:nvPr/>
        </p:nvSpPr>
        <p:spPr>
          <a:xfrm>
            <a:off x="594360" y="3355848"/>
            <a:ext cx="384048" cy="384048"/>
          </a:xfrm>
          <a:prstGeom prst="rect">
            <a:avLst/>
          </a:prstGeom>
          <a:noFill/>
          <a:ln/>
        </p:spPr>
        <p:txBody>
          <a:bodyPr wrap="square" lIns="0" tIns="0" rIns="0" bIns="0" rtlCol="0" anchor="ctr"/>
          <a:lstStyle/>
          <a:p>
            <a:pPr algn="ctr" indent="0" marL="0">
              <a:buNone/>
            </a:pPr>
            <a:r>
              <a:rPr lang="en-US" sz="924" b="1" dirty="0">
                <a:solidFill>
                  <a:srgbClr val="15172E"/>
                </a:solidFill>
                <a:latin typeface="Cambria" pitchFamily="34" charset="0"/>
                <a:ea typeface="Cambria" pitchFamily="34" charset="-122"/>
                <a:cs typeface="Cambria" pitchFamily="34" charset="-120"/>
              </a:rPr>
              <a:t>4</a:t>
            </a:r>
            <a:endParaRPr lang="en-US" sz="924" dirty="0"/>
          </a:p>
        </p:txBody>
      </p:sp>
      <p:sp>
        <p:nvSpPr>
          <p:cNvPr id="22" name="Text 20"/>
          <p:cNvSpPr txBox="1"/>
          <p:nvPr/>
        </p:nvSpPr>
        <p:spPr>
          <a:xfrm>
            <a:off x="1188720" y="3264408"/>
            <a:ext cx="2194560" cy="566928"/>
          </a:xfrm>
          <a:prstGeom prst="rect">
            <a:avLst/>
          </a:prstGeom>
          <a:noFill/>
          <a:ln/>
        </p:spPr>
        <p:txBody>
          <a:bodyPr wrap="square" lIns="0" tIns="0" rIns="0" bIns="0" rtlCol="0" anchor="ctr"/>
          <a:lstStyle/>
          <a:p>
            <a:pPr indent="0" marL="0">
              <a:buNone/>
            </a:pPr>
            <a:r>
              <a:rPr lang="en-US" sz="1500" b="1" dirty="0">
                <a:solidFill>
                  <a:srgbClr val="1D1F33"/>
                </a:solidFill>
                <a:latin typeface="Calibri" pitchFamily="34" charset="0"/>
                <a:ea typeface="Calibri" pitchFamily="34" charset="-122"/>
                <a:cs typeface="Calibri" pitchFamily="34" charset="-120"/>
              </a:rPr>
              <a:t>No explanation</a:t>
            </a:r>
            <a:endParaRPr lang="en-US" sz="1500" dirty="0"/>
          </a:p>
        </p:txBody>
      </p:sp>
      <p:sp>
        <p:nvSpPr>
          <p:cNvPr id="23" name="Text 21"/>
          <p:cNvSpPr txBox="1"/>
          <p:nvPr/>
        </p:nvSpPr>
        <p:spPr>
          <a:xfrm>
            <a:off x="3383280" y="3264408"/>
            <a:ext cx="5120640" cy="566928"/>
          </a:xfrm>
          <a:prstGeom prst="rect">
            <a:avLst/>
          </a:prstGeom>
          <a:noFill/>
          <a:ln/>
        </p:spPr>
        <p:txBody>
          <a:bodyPr wrap="square" lIns="0" tIns="0" rIns="0" bIns="0" rtlCol="0" anchor="ctr"/>
          <a:lstStyle/>
          <a:p>
            <a:pPr indent="0" marL="0">
              <a:buNone/>
            </a:pPr>
            <a:r>
              <a:rPr lang="en-US" sz="1250" dirty="0">
                <a:solidFill>
                  <a:srgbClr val="5E6280"/>
                </a:solidFill>
                <a:latin typeface="Calibri" pitchFamily="34" charset="0"/>
                <a:ea typeface="Calibri" pitchFamily="34" charset="-122"/>
                <a:cs typeface="Calibri" pitchFamily="34" charset="-120"/>
              </a:rPr>
              <a:t>End-to-end and vision-language verdicts can't be traced to a rule, and can hallucinate.</a:t>
            </a:r>
            <a:endParaRPr lang="en-US" sz="1250" dirty="0"/>
          </a:p>
        </p:txBody>
      </p:sp>
      <p:sp>
        <p:nvSpPr>
          <p:cNvPr id="24" name="Shape 22"/>
          <p:cNvSpPr/>
          <p:nvPr/>
        </p:nvSpPr>
        <p:spPr>
          <a:xfrm>
            <a:off x="457200" y="3941064"/>
            <a:ext cx="8229600" cy="566928"/>
          </a:xfrm>
          <a:prstGeom prst="roundRect">
            <a:avLst>
              <a:gd name="adj" fmla="val 12903"/>
            </a:avLst>
          </a:prstGeom>
          <a:solidFill>
            <a:srgbClr val="FFFFFF"/>
          </a:solidFill>
          <a:ln w="12700">
            <a:solidFill>
              <a:srgbClr val="FFFFFF"/>
            </a:solidFill>
            <a:prstDash val="solid"/>
          </a:ln>
        </p:spPr>
      </p:sp>
      <p:sp>
        <p:nvSpPr>
          <p:cNvPr id="25" name="Shape 23"/>
          <p:cNvSpPr/>
          <p:nvPr/>
        </p:nvSpPr>
        <p:spPr>
          <a:xfrm>
            <a:off x="594360" y="4032504"/>
            <a:ext cx="384048" cy="384048"/>
          </a:xfrm>
          <a:prstGeom prst="ellipse">
            <a:avLst/>
          </a:prstGeom>
          <a:solidFill>
            <a:srgbClr val="F2A541"/>
          </a:solidFill>
          <a:ln w="12700">
            <a:solidFill>
              <a:srgbClr val="F2A541"/>
            </a:solidFill>
            <a:prstDash val="solid"/>
          </a:ln>
        </p:spPr>
      </p:sp>
      <p:sp>
        <p:nvSpPr>
          <p:cNvPr id="26" name="Text 24"/>
          <p:cNvSpPr txBox="1"/>
          <p:nvPr/>
        </p:nvSpPr>
        <p:spPr>
          <a:xfrm>
            <a:off x="594360" y="4032504"/>
            <a:ext cx="384048" cy="384048"/>
          </a:xfrm>
          <a:prstGeom prst="rect">
            <a:avLst/>
          </a:prstGeom>
          <a:noFill/>
          <a:ln/>
        </p:spPr>
        <p:txBody>
          <a:bodyPr wrap="square" lIns="0" tIns="0" rIns="0" bIns="0" rtlCol="0" anchor="ctr"/>
          <a:lstStyle/>
          <a:p>
            <a:pPr algn="ctr" indent="0" marL="0">
              <a:buNone/>
            </a:pPr>
            <a:r>
              <a:rPr lang="en-US" sz="924" b="1" dirty="0">
                <a:solidFill>
                  <a:srgbClr val="15172E"/>
                </a:solidFill>
                <a:latin typeface="Cambria" pitchFamily="34" charset="0"/>
                <a:ea typeface="Cambria" pitchFamily="34" charset="-122"/>
                <a:cs typeface="Cambria" pitchFamily="34" charset="-120"/>
              </a:rPr>
              <a:t>5</a:t>
            </a:r>
            <a:endParaRPr lang="en-US" sz="924" dirty="0"/>
          </a:p>
        </p:txBody>
      </p:sp>
      <p:sp>
        <p:nvSpPr>
          <p:cNvPr id="27" name="Text 25"/>
          <p:cNvSpPr txBox="1"/>
          <p:nvPr/>
        </p:nvSpPr>
        <p:spPr>
          <a:xfrm>
            <a:off x="1188720" y="3941064"/>
            <a:ext cx="2194560" cy="566928"/>
          </a:xfrm>
          <a:prstGeom prst="rect">
            <a:avLst/>
          </a:prstGeom>
          <a:noFill/>
          <a:ln/>
        </p:spPr>
        <p:txBody>
          <a:bodyPr wrap="square" lIns="0" tIns="0" rIns="0" bIns="0" rtlCol="0" anchor="ctr"/>
          <a:lstStyle/>
          <a:p>
            <a:pPr indent="0" marL="0">
              <a:buNone/>
            </a:pPr>
            <a:r>
              <a:rPr lang="en-US" sz="1500" b="1" dirty="0">
                <a:solidFill>
                  <a:srgbClr val="1D1F33"/>
                </a:solidFill>
                <a:latin typeface="Calibri" pitchFamily="34" charset="0"/>
                <a:ea typeface="Calibri" pitchFamily="34" charset="-122"/>
                <a:cs typeface="Calibri" pitchFamily="34" charset="-120"/>
              </a:rPr>
              <a:t>Offline evaluation</a:t>
            </a:r>
            <a:endParaRPr lang="en-US" sz="1500" dirty="0"/>
          </a:p>
        </p:txBody>
      </p:sp>
      <p:sp>
        <p:nvSpPr>
          <p:cNvPr id="28" name="Text 26"/>
          <p:cNvSpPr txBox="1"/>
          <p:nvPr/>
        </p:nvSpPr>
        <p:spPr>
          <a:xfrm>
            <a:off x="3383280" y="3941064"/>
            <a:ext cx="5120640" cy="566928"/>
          </a:xfrm>
          <a:prstGeom prst="rect">
            <a:avLst/>
          </a:prstGeom>
          <a:noFill/>
          <a:ln/>
        </p:spPr>
        <p:txBody>
          <a:bodyPr wrap="square" lIns="0" tIns="0" rIns="0" bIns="0" rtlCol="0" anchor="ctr"/>
          <a:lstStyle/>
          <a:p>
            <a:pPr indent="0" marL="0">
              <a:buNone/>
            </a:pPr>
            <a:r>
              <a:rPr lang="en-US" sz="1250" dirty="0">
                <a:solidFill>
                  <a:srgbClr val="5E6280"/>
                </a:solidFill>
                <a:latin typeface="Calibri" pitchFamily="34" charset="0"/>
                <a:ea typeface="Calibri" pitchFamily="34" charset="-122"/>
                <a:cs typeface="Calibri" pitchFamily="34" charset="-120"/>
              </a:rPr>
              <a:t>Few report alert delay, latency, or false alerts on a correct run.</a:t>
            </a:r>
            <a:endParaRPr lang="en-US" sz="1250" dirty="0"/>
          </a:p>
        </p:txBody>
      </p:sp>
      <p:sp>
        <p:nvSpPr>
          <p:cNvPr id="29" name="Text 27"/>
          <p:cNvSpPr txBox="1"/>
          <p:nvPr/>
        </p:nvSpPr>
        <p:spPr>
          <a:xfrm>
            <a:off x="6400800" y="4754880"/>
            <a:ext cx="2286000" cy="228600"/>
          </a:xfrm>
          <a:prstGeom prst="rect">
            <a:avLst/>
          </a:prstGeom>
          <a:noFill/>
          <a:ln/>
        </p:spPr>
        <p:txBody>
          <a:bodyPr wrap="square" lIns="0" tIns="0" rIns="0" bIns="0" rtlCol="0" anchor="ctr"/>
          <a:lstStyle/>
          <a:p>
            <a:pPr algn="r" indent="0" marL="0">
              <a:buNone/>
            </a:pPr>
            <a:r>
              <a:rPr lang="en-US" sz="1000" i="1" dirty="0">
                <a:solidFill>
                  <a:srgbClr val="5E6280"/>
                </a:solidFill>
                <a:latin typeface="Calibri" pitchFamily="34" charset="0"/>
                <a:ea typeface="Calibri" pitchFamily="34" charset="-122"/>
                <a:cs typeface="Calibri" pitchFamily="34" charset="-120"/>
              </a:rPr>
              <a:t>Mitul KM</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5172E"/>
        </a:solidFill>
      </p:bgPr>
    </p:bg>
    <p:spTree>
      <p:nvGrpSpPr>
        <p:cNvPr id="1" name=""/>
        <p:cNvGrpSpPr/>
        <p:nvPr/>
      </p:nvGrpSpPr>
      <p:grpSpPr>
        <a:xfrm>
          <a:off x="0" y="0"/>
          <a:ext cx="0" cy="0"/>
          <a:chOff x="0" y="0"/>
          <a:chExt cx="0" cy="0"/>
        </a:xfrm>
      </p:grpSpPr>
      <p:sp>
        <p:nvSpPr>
          <p:cNvPr id="2" name="Text 0"/>
          <p:cNvSpPr txBox="1"/>
          <p:nvPr/>
        </p:nvSpPr>
        <p:spPr>
          <a:xfrm>
            <a:off x="457200" y="411480"/>
            <a:ext cx="8229600" cy="274320"/>
          </a:xfrm>
          <a:prstGeom prst="rect">
            <a:avLst/>
          </a:prstGeom>
          <a:noFill/>
          <a:ln/>
        </p:spPr>
        <p:txBody>
          <a:bodyPr wrap="square" lIns="0" tIns="0" rIns="0" bIns="0" rtlCol="0" anchor="ctr"/>
          <a:lstStyle/>
          <a:p>
            <a:pPr indent="0" marL="0">
              <a:buNone/>
            </a:pPr>
            <a:r>
              <a:rPr lang="en-US" sz="1200" b="1" spc="300" kern="0" dirty="0">
                <a:solidFill>
                  <a:srgbClr val="F2A541"/>
                </a:solidFill>
                <a:latin typeface="Calibri" pitchFamily="34" charset="0"/>
                <a:ea typeface="Calibri" pitchFamily="34" charset="-122"/>
                <a:cs typeface="Calibri" pitchFamily="34" charset="-120"/>
              </a:rPr>
              <a:t>PROBLEM STATEMENT</a:t>
            </a:r>
            <a:endParaRPr lang="en-US" sz="1200" dirty="0"/>
          </a:p>
        </p:txBody>
      </p:sp>
      <p:pic>
        <p:nvPicPr>
          <p:cNvPr id="3" name="Image 0" descr="preencoded.png">    </p:cNvPr>
          <p:cNvPicPr>
            <a:picLocks noChangeAspect="1"/>
          </p:cNvPicPr>
          <p:nvPr/>
        </p:nvPicPr>
        <p:blipFill>
          <a:blip r:embed="rId1"/>
          <a:stretch>
            <a:fillRect/>
          </a:stretch>
        </p:blipFill>
        <p:spPr>
          <a:xfrm>
            <a:off x="8001000" y="320040"/>
            <a:ext cx="548640" cy="548640"/>
          </a:xfrm>
          <a:prstGeom prst="rect">
            <a:avLst/>
          </a:prstGeom>
        </p:spPr>
      </p:pic>
      <p:sp>
        <p:nvSpPr>
          <p:cNvPr id="4" name="Shape 1"/>
          <p:cNvSpPr/>
          <p:nvPr/>
        </p:nvSpPr>
        <p:spPr>
          <a:xfrm>
            <a:off x="457200" y="914400"/>
            <a:ext cx="8229600" cy="3017520"/>
          </a:xfrm>
          <a:prstGeom prst="roundRect">
            <a:avLst>
              <a:gd name="adj" fmla="val 2424"/>
            </a:avLst>
          </a:prstGeom>
          <a:solidFill>
            <a:srgbClr val="23264A"/>
          </a:solidFill>
          <a:ln w="12700">
            <a:solidFill>
              <a:srgbClr val="23264A"/>
            </a:solidFill>
            <a:prstDash val="solid"/>
          </a:ln>
        </p:spPr>
      </p:sp>
      <p:sp>
        <p:nvSpPr>
          <p:cNvPr id="5" name="Text 2"/>
          <p:cNvSpPr txBox="1"/>
          <p:nvPr/>
        </p:nvSpPr>
        <p:spPr>
          <a:xfrm>
            <a:off x="777240" y="1097280"/>
            <a:ext cx="7589520" cy="2651760"/>
          </a:xfrm>
          <a:prstGeom prst="rect">
            <a:avLst/>
          </a:prstGeom>
          <a:noFill/>
          <a:ln/>
        </p:spPr>
        <p:txBody>
          <a:bodyPr wrap="square" lIns="0" tIns="0" rIns="0" bIns="0" rtlCol="0" anchor="ctr"/>
          <a:lstStyle/>
          <a:p>
            <a:pPr indent="0" marL="0">
              <a:lnSpc>
                <a:spcPct val="115000"/>
              </a:lnSpc>
              <a:buNone/>
            </a:pPr>
            <a:r>
              <a:rPr lang="en-US" sz="2000" dirty="0">
                <a:solidFill>
                  <a:srgbClr val="FFFFFF"/>
                </a:solidFill>
                <a:latin typeface="Cambria" pitchFamily="34" charset="0"/>
                <a:ea typeface="Cambria" pitchFamily="34" charset="-122"/>
                <a:cs typeface="Cambria" pitchFamily="34" charset="-120"/>
              </a:rPr>
              <a:t>Given a </a:t>
            </a:r>
            <a:pPr indent="0" marL="0">
              <a:lnSpc>
                <a:spcPct val="115000"/>
              </a:lnSpc>
              <a:buNone/>
            </a:pPr>
            <a:r>
              <a:rPr lang="en-US" sz="2000" b="1" dirty="0">
                <a:solidFill>
                  <a:srgbClr val="F2A541"/>
                </a:solidFill>
                <a:latin typeface="Cambria" pitchFamily="34" charset="0"/>
                <a:ea typeface="Cambria" pitchFamily="34" charset="-122"/>
                <a:cs typeface="Cambria" pitchFamily="34" charset="-120"/>
              </a:rPr>
              <a:t>written procedure</a:t>
            </a:r>
            <a:pPr indent="0" marL="0">
              <a:lnSpc>
                <a:spcPct val="115000"/>
              </a:lnSpc>
              <a:buNone/>
            </a:pPr>
            <a:r>
              <a:rPr lang="en-US" sz="2000" dirty="0">
                <a:solidFill>
                  <a:srgbClr val="FFFFFF"/>
                </a:solidFill>
                <a:latin typeface="Cambria" pitchFamily="34" charset="0"/>
                <a:ea typeface="Cambria" pitchFamily="34" charset="-122"/>
                <a:cs typeface="Cambria" pitchFamily="34" charset="-120"/>
              </a:rPr>
              <a:t> (an instruction manual or a rulebook) and a </a:t>
            </a:r>
            <a:pPr indent="0" marL="0">
              <a:lnSpc>
                <a:spcPct val="115000"/>
              </a:lnSpc>
              <a:buNone/>
            </a:pPr>
            <a:r>
              <a:rPr lang="en-US" sz="2000" b="1" dirty="0">
                <a:solidFill>
                  <a:srgbClr val="F2A541"/>
                </a:solidFill>
                <a:latin typeface="Cambria" pitchFamily="34" charset="0"/>
                <a:ea typeface="Cambria" pitchFamily="34" charset="-122"/>
                <a:cs typeface="Cambria" pitchFamily="34" charset="-120"/>
              </a:rPr>
              <a:t>live camera view</a:t>
            </a:r>
            <a:pPr indent="0" marL="0">
              <a:lnSpc>
                <a:spcPct val="115000"/>
              </a:lnSpc>
              <a:buNone/>
            </a:pPr>
            <a:r>
              <a:rPr lang="en-US" sz="2000" dirty="0">
                <a:solidFill>
                  <a:srgbClr val="FFFFFF"/>
                </a:solidFill>
                <a:latin typeface="Cambria" pitchFamily="34" charset="0"/>
                <a:ea typeface="Cambria" pitchFamily="34" charset="-122"/>
                <a:cs typeface="Cambria" pitchFamily="34" charset="-120"/>
              </a:rPr>
              <a:t> of a person performing it, detect </a:t>
            </a:r>
            <a:pPr indent="0" marL="0">
              <a:lnSpc>
                <a:spcPct val="115000"/>
              </a:lnSpc>
              <a:buNone/>
            </a:pPr>
            <a:r>
              <a:rPr lang="en-US" sz="2000" b="1" dirty="0">
                <a:solidFill>
                  <a:srgbClr val="F2A541"/>
                </a:solidFill>
                <a:latin typeface="Cambria" pitchFamily="34" charset="0"/>
                <a:ea typeface="Cambria" pitchFamily="34" charset="-122"/>
                <a:cs typeface="Cambria" pitchFamily="34" charset="-120"/>
              </a:rPr>
              <a:t>in real time</a:t>
            </a:r>
            <a:pPr indent="0" marL="0">
              <a:lnSpc>
                <a:spcPct val="115000"/>
              </a:lnSpc>
              <a:buNone/>
            </a:pPr>
            <a:r>
              <a:rPr lang="en-US" sz="2000" dirty="0">
                <a:solidFill>
                  <a:srgbClr val="FFFFFF"/>
                </a:solidFill>
                <a:latin typeface="Cambria" pitchFamily="34" charset="0"/>
                <a:ea typeface="Cambria" pitchFamily="34" charset="-122"/>
                <a:cs typeface="Cambria" pitchFamily="34" charset="-120"/>
              </a:rPr>
              <a:t> every deviation from the procedure (a missed step, an out-of-order step, a wrong part, a wrong position or rotation, or an illegal move) </a:t>
            </a:r>
            <a:pPr indent="0" marL="0">
              <a:lnSpc>
                <a:spcPct val="115000"/>
              </a:lnSpc>
              <a:buNone/>
            </a:pPr>
            <a:r>
              <a:rPr lang="en-US" sz="2000" b="1" dirty="0">
                <a:solidFill>
                  <a:srgbClr val="F2A541"/>
                </a:solidFill>
                <a:latin typeface="Cambria" pitchFamily="34" charset="0"/>
                <a:ea typeface="Cambria" pitchFamily="34" charset="-122"/>
                <a:cs typeface="Cambria" pitchFamily="34" charset="-120"/>
              </a:rPr>
              <a:t>without training a new model for each procedure</a:t>
            </a:r>
            <a:pPr indent="0" marL="0">
              <a:lnSpc>
                <a:spcPct val="115000"/>
              </a:lnSpc>
              <a:buNone/>
            </a:pPr>
            <a:r>
              <a:rPr lang="en-US" sz="2000" dirty="0">
                <a:solidFill>
                  <a:srgbClr val="FFFFFF"/>
                </a:solidFill>
                <a:latin typeface="Cambria" pitchFamily="34" charset="0"/>
                <a:ea typeface="Cambria" pitchFamily="34" charset="-122"/>
                <a:cs typeface="Cambria" pitchFamily="34" charset="-120"/>
              </a:rPr>
              <a:t>, and make every alert </a:t>
            </a:r>
            <a:pPr indent="0" marL="0">
              <a:lnSpc>
                <a:spcPct val="115000"/>
              </a:lnSpc>
              <a:buNone/>
            </a:pPr>
            <a:r>
              <a:rPr lang="en-US" sz="2000" b="1" dirty="0">
                <a:solidFill>
                  <a:srgbClr val="F2A541"/>
                </a:solidFill>
                <a:latin typeface="Cambria" pitchFamily="34" charset="0"/>
                <a:ea typeface="Cambria" pitchFamily="34" charset="-122"/>
                <a:cs typeface="Cambria" pitchFamily="34" charset="-120"/>
              </a:rPr>
              <a:t>traceable to an explicit rule.</a:t>
            </a:r>
            <a:endParaRPr lang="en-US" sz="2000" dirty="0"/>
          </a:p>
        </p:txBody>
      </p:sp>
      <p:sp>
        <p:nvSpPr>
          <p:cNvPr id="6" name="Shape 3"/>
          <p:cNvSpPr/>
          <p:nvPr/>
        </p:nvSpPr>
        <p:spPr>
          <a:xfrm>
            <a:off x="457200" y="4206240"/>
            <a:ext cx="1129284" cy="365760"/>
          </a:xfrm>
          <a:prstGeom prst="roundRect">
            <a:avLst>
              <a:gd name="adj" fmla="val 50000"/>
            </a:avLst>
          </a:prstGeom>
          <a:solidFill>
            <a:srgbClr val="15172E"/>
          </a:solidFill>
          <a:ln w="12700">
            <a:solidFill>
              <a:srgbClr val="F2A541"/>
            </a:solidFill>
            <a:prstDash val="solid"/>
          </a:ln>
        </p:spPr>
      </p:sp>
      <p:sp>
        <p:nvSpPr>
          <p:cNvPr id="7" name="Text 4"/>
          <p:cNvSpPr txBox="1"/>
          <p:nvPr/>
        </p:nvSpPr>
        <p:spPr>
          <a:xfrm>
            <a:off x="457200" y="4206240"/>
            <a:ext cx="1129284" cy="365760"/>
          </a:xfrm>
          <a:prstGeom prst="rect">
            <a:avLst/>
          </a:prstGeom>
          <a:noFill/>
          <a:ln/>
        </p:spPr>
        <p:txBody>
          <a:bodyPr wrap="square" lIns="0" tIns="0" rIns="0" bIns="0" rtlCol="0" anchor="ctr"/>
          <a:lstStyle/>
          <a:p>
            <a:pPr algn="ctr" indent="0" marL="0">
              <a:buNone/>
            </a:pPr>
            <a:r>
              <a:rPr lang="en-US" sz="1100" dirty="0">
                <a:solidFill>
                  <a:srgbClr val="F2A541"/>
                </a:solidFill>
                <a:latin typeface="Calibri" pitchFamily="34" charset="0"/>
                <a:ea typeface="Calibri" pitchFamily="34" charset="-122"/>
                <a:cs typeface="Calibri" pitchFamily="34" charset="-120"/>
              </a:rPr>
              <a:t>Missed step</a:t>
            </a:r>
            <a:endParaRPr lang="en-US" sz="1100" dirty="0"/>
          </a:p>
        </p:txBody>
      </p:sp>
      <p:sp>
        <p:nvSpPr>
          <p:cNvPr id="8" name="Shape 5"/>
          <p:cNvSpPr/>
          <p:nvPr/>
        </p:nvSpPr>
        <p:spPr>
          <a:xfrm>
            <a:off x="1723644" y="4206240"/>
            <a:ext cx="1207008" cy="365760"/>
          </a:xfrm>
          <a:prstGeom prst="roundRect">
            <a:avLst>
              <a:gd name="adj" fmla="val 50000"/>
            </a:avLst>
          </a:prstGeom>
          <a:solidFill>
            <a:srgbClr val="15172E"/>
          </a:solidFill>
          <a:ln w="12700">
            <a:solidFill>
              <a:srgbClr val="F2A541"/>
            </a:solidFill>
            <a:prstDash val="solid"/>
          </a:ln>
        </p:spPr>
      </p:sp>
      <p:sp>
        <p:nvSpPr>
          <p:cNvPr id="9" name="Text 6"/>
          <p:cNvSpPr txBox="1"/>
          <p:nvPr/>
        </p:nvSpPr>
        <p:spPr>
          <a:xfrm>
            <a:off x="1723644" y="4206240"/>
            <a:ext cx="1207008" cy="365760"/>
          </a:xfrm>
          <a:prstGeom prst="rect">
            <a:avLst/>
          </a:prstGeom>
          <a:noFill/>
          <a:ln/>
        </p:spPr>
        <p:txBody>
          <a:bodyPr wrap="square" lIns="0" tIns="0" rIns="0" bIns="0" rtlCol="0" anchor="ctr"/>
          <a:lstStyle/>
          <a:p>
            <a:pPr algn="ctr" indent="0" marL="0">
              <a:buNone/>
            </a:pPr>
            <a:r>
              <a:rPr lang="en-US" sz="1100" dirty="0">
                <a:solidFill>
                  <a:srgbClr val="F2A541"/>
                </a:solidFill>
                <a:latin typeface="Calibri" pitchFamily="34" charset="0"/>
                <a:ea typeface="Calibri" pitchFamily="34" charset="-122"/>
                <a:cs typeface="Calibri" pitchFamily="34" charset="-120"/>
              </a:rPr>
              <a:t>Out of order</a:t>
            </a:r>
            <a:endParaRPr lang="en-US" sz="1100" dirty="0"/>
          </a:p>
        </p:txBody>
      </p:sp>
      <p:sp>
        <p:nvSpPr>
          <p:cNvPr id="10" name="Shape 7"/>
          <p:cNvSpPr/>
          <p:nvPr/>
        </p:nvSpPr>
        <p:spPr>
          <a:xfrm>
            <a:off x="3067812" y="4206240"/>
            <a:ext cx="1051560" cy="365760"/>
          </a:xfrm>
          <a:prstGeom prst="roundRect">
            <a:avLst>
              <a:gd name="adj" fmla="val 50000"/>
            </a:avLst>
          </a:prstGeom>
          <a:solidFill>
            <a:srgbClr val="15172E"/>
          </a:solidFill>
          <a:ln w="12700">
            <a:solidFill>
              <a:srgbClr val="F2A541"/>
            </a:solidFill>
            <a:prstDash val="solid"/>
          </a:ln>
        </p:spPr>
      </p:sp>
      <p:sp>
        <p:nvSpPr>
          <p:cNvPr id="11" name="Text 8"/>
          <p:cNvSpPr txBox="1"/>
          <p:nvPr/>
        </p:nvSpPr>
        <p:spPr>
          <a:xfrm>
            <a:off x="3067812" y="4206240"/>
            <a:ext cx="1051560" cy="365760"/>
          </a:xfrm>
          <a:prstGeom prst="rect">
            <a:avLst/>
          </a:prstGeom>
          <a:noFill/>
          <a:ln/>
        </p:spPr>
        <p:txBody>
          <a:bodyPr wrap="square" lIns="0" tIns="0" rIns="0" bIns="0" rtlCol="0" anchor="ctr"/>
          <a:lstStyle/>
          <a:p>
            <a:pPr algn="ctr" indent="0" marL="0">
              <a:buNone/>
            </a:pPr>
            <a:r>
              <a:rPr lang="en-US" sz="1100" dirty="0">
                <a:solidFill>
                  <a:srgbClr val="F2A541"/>
                </a:solidFill>
                <a:latin typeface="Calibri" pitchFamily="34" charset="0"/>
                <a:ea typeface="Calibri" pitchFamily="34" charset="-122"/>
                <a:cs typeface="Calibri" pitchFamily="34" charset="-120"/>
              </a:rPr>
              <a:t>Wrong part</a:t>
            </a:r>
            <a:endParaRPr lang="en-US" sz="1100" dirty="0"/>
          </a:p>
        </p:txBody>
      </p:sp>
      <p:sp>
        <p:nvSpPr>
          <p:cNvPr id="12" name="Shape 9"/>
          <p:cNvSpPr/>
          <p:nvPr/>
        </p:nvSpPr>
        <p:spPr>
          <a:xfrm>
            <a:off x="4256532" y="4206240"/>
            <a:ext cx="2217420" cy="365760"/>
          </a:xfrm>
          <a:prstGeom prst="roundRect">
            <a:avLst>
              <a:gd name="adj" fmla="val 50000"/>
            </a:avLst>
          </a:prstGeom>
          <a:solidFill>
            <a:srgbClr val="15172E"/>
          </a:solidFill>
          <a:ln w="12700">
            <a:solidFill>
              <a:srgbClr val="F2A541"/>
            </a:solidFill>
            <a:prstDash val="solid"/>
          </a:ln>
        </p:spPr>
      </p:sp>
      <p:sp>
        <p:nvSpPr>
          <p:cNvPr id="13" name="Text 10"/>
          <p:cNvSpPr txBox="1"/>
          <p:nvPr/>
        </p:nvSpPr>
        <p:spPr>
          <a:xfrm>
            <a:off x="4256532" y="4206240"/>
            <a:ext cx="2217420" cy="365760"/>
          </a:xfrm>
          <a:prstGeom prst="rect">
            <a:avLst/>
          </a:prstGeom>
          <a:noFill/>
          <a:ln/>
        </p:spPr>
        <p:txBody>
          <a:bodyPr wrap="square" lIns="0" tIns="0" rIns="0" bIns="0" rtlCol="0" anchor="ctr"/>
          <a:lstStyle/>
          <a:p>
            <a:pPr algn="ctr" indent="0" marL="0">
              <a:buNone/>
            </a:pPr>
            <a:r>
              <a:rPr lang="en-US" sz="1100" dirty="0">
                <a:solidFill>
                  <a:srgbClr val="F2A541"/>
                </a:solidFill>
                <a:latin typeface="Calibri" pitchFamily="34" charset="0"/>
                <a:ea typeface="Calibri" pitchFamily="34" charset="-122"/>
                <a:cs typeface="Calibri" pitchFamily="34" charset="-120"/>
              </a:rPr>
              <a:t>Wrong position / rotation</a:t>
            </a:r>
            <a:endParaRPr lang="en-US" sz="1100" dirty="0"/>
          </a:p>
        </p:txBody>
      </p:sp>
      <p:sp>
        <p:nvSpPr>
          <p:cNvPr id="14" name="Shape 11"/>
          <p:cNvSpPr/>
          <p:nvPr/>
        </p:nvSpPr>
        <p:spPr>
          <a:xfrm>
            <a:off x="6611112" y="4206240"/>
            <a:ext cx="1207008" cy="365760"/>
          </a:xfrm>
          <a:prstGeom prst="roundRect">
            <a:avLst>
              <a:gd name="adj" fmla="val 50000"/>
            </a:avLst>
          </a:prstGeom>
          <a:solidFill>
            <a:srgbClr val="15172E"/>
          </a:solidFill>
          <a:ln w="12700">
            <a:solidFill>
              <a:srgbClr val="F2A541"/>
            </a:solidFill>
            <a:prstDash val="solid"/>
          </a:ln>
        </p:spPr>
      </p:sp>
      <p:sp>
        <p:nvSpPr>
          <p:cNvPr id="15" name="Text 12"/>
          <p:cNvSpPr txBox="1"/>
          <p:nvPr/>
        </p:nvSpPr>
        <p:spPr>
          <a:xfrm>
            <a:off x="6611112" y="4206240"/>
            <a:ext cx="1207008" cy="365760"/>
          </a:xfrm>
          <a:prstGeom prst="rect">
            <a:avLst/>
          </a:prstGeom>
          <a:noFill/>
          <a:ln/>
        </p:spPr>
        <p:txBody>
          <a:bodyPr wrap="square" lIns="0" tIns="0" rIns="0" bIns="0" rtlCol="0" anchor="ctr"/>
          <a:lstStyle/>
          <a:p>
            <a:pPr algn="ctr" indent="0" marL="0">
              <a:buNone/>
            </a:pPr>
            <a:r>
              <a:rPr lang="en-US" sz="1100" dirty="0">
                <a:solidFill>
                  <a:srgbClr val="F2A541"/>
                </a:solidFill>
                <a:latin typeface="Calibri" pitchFamily="34" charset="0"/>
                <a:ea typeface="Calibri" pitchFamily="34" charset="-122"/>
                <a:cs typeface="Calibri" pitchFamily="34" charset="-120"/>
              </a:rPr>
              <a:t>Illegal move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28600"/>
          </a:xfrm>
          <a:prstGeom prst="rect">
            <a:avLst/>
          </a:prstGeom>
          <a:noFill/>
          <a:ln/>
        </p:spPr>
        <p:txBody>
          <a:bodyPr wrap="square" lIns="0" tIns="0" rIns="0" bIns="0" rtlCol="0" anchor="ctr"/>
          <a:lstStyle/>
          <a:p>
            <a:pPr indent="0" marL="0">
              <a:buNone/>
            </a:pPr>
            <a:r>
              <a:rPr lang="en-US" sz="1100" b="1" spc="200" kern="0" dirty="0">
                <a:solidFill>
                  <a:srgbClr val="5B5FC7"/>
                </a:solidFill>
                <a:latin typeface="Calibri" pitchFamily="34" charset="0"/>
                <a:ea typeface="Calibri" pitchFamily="34" charset="-122"/>
                <a:cs typeface="Calibri" pitchFamily="34" charset="-120"/>
              </a:rPr>
              <a:t>PROPOSED APPROACH</a:t>
            </a:r>
            <a:endParaRPr lang="en-US" sz="1100" dirty="0"/>
          </a:p>
        </p:txBody>
      </p:sp>
      <p:sp>
        <p:nvSpPr>
          <p:cNvPr id="3" name="Text 1"/>
          <p:cNvSpPr txBox="1"/>
          <p:nvPr/>
        </p:nvSpPr>
        <p:spPr>
          <a:xfrm>
            <a:off x="457200" y="502920"/>
            <a:ext cx="8229600" cy="594360"/>
          </a:xfrm>
          <a:prstGeom prst="rect">
            <a:avLst/>
          </a:prstGeom>
          <a:noFill/>
          <a:ln/>
        </p:spPr>
        <p:txBody>
          <a:bodyPr wrap="square" lIns="0" tIns="0" rIns="0" bIns="0" rtlCol="0" anchor="ctr"/>
          <a:lstStyle/>
          <a:p>
            <a:pPr indent="0" marL="0">
              <a:buNone/>
            </a:pPr>
            <a:r>
              <a:rPr lang="en-US" sz="3000" b="1" dirty="0">
                <a:solidFill>
                  <a:srgbClr val="15172E"/>
                </a:solidFill>
                <a:latin typeface="Cambria" pitchFamily="34" charset="0"/>
                <a:ea typeface="Cambria" pitchFamily="34" charset="-122"/>
                <a:cs typeface="Cambria" pitchFamily="34" charset="-120"/>
              </a:rPr>
              <a:t>How we address it</a:t>
            </a:r>
            <a:endParaRPr lang="en-US" sz="3000" dirty="0"/>
          </a:p>
        </p:txBody>
      </p:sp>
      <p:sp>
        <p:nvSpPr>
          <p:cNvPr id="4" name="Shape 2"/>
          <p:cNvSpPr/>
          <p:nvPr/>
        </p:nvSpPr>
        <p:spPr>
          <a:xfrm>
            <a:off x="457200" y="1234440"/>
            <a:ext cx="2560320" cy="2926080"/>
          </a:xfrm>
          <a:prstGeom prst="roundRect">
            <a:avLst>
              <a:gd name="adj" fmla="val 2857"/>
            </a:avLst>
          </a:prstGeom>
          <a:solidFill>
            <a:srgbClr val="F1F2F8"/>
          </a:solidFill>
          <a:ln w="12700">
            <a:solidFill>
              <a:srgbClr val="F1F2F8"/>
            </a:solidFill>
            <a:prstDash val="solid"/>
          </a:ln>
        </p:spPr>
      </p:sp>
      <p:sp>
        <p:nvSpPr>
          <p:cNvPr id="5" name="Shape 3"/>
          <p:cNvSpPr/>
          <p:nvPr/>
        </p:nvSpPr>
        <p:spPr>
          <a:xfrm>
            <a:off x="640080" y="1417320"/>
            <a:ext cx="640080" cy="640080"/>
          </a:xfrm>
          <a:prstGeom prst="ellipse">
            <a:avLst/>
          </a:prstGeom>
          <a:solidFill>
            <a:srgbClr val="15172E"/>
          </a:solidFill>
          <a:ln w="12700">
            <a:solidFill>
              <a:srgbClr val="15172E"/>
            </a:solidFill>
            <a:prstDash val="solid"/>
          </a:ln>
        </p:spPr>
      </p:sp>
      <p:pic>
        <p:nvPicPr>
          <p:cNvPr id="6" name="Image 0" descr="preencoded.png">    </p:cNvPr>
          <p:cNvPicPr>
            <a:picLocks noChangeAspect="1"/>
          </p:cNvPicPr>
          <p:nvPr/>
        </p:nvPicPr>
        <p:blipFill>
          <a:blip r:embed="rId1"/>
          <a:stretch>
            <a:fillRect/>
          </a:stretch>
        </p:blipFill>
        <p:spPr>
          <a:xfrm>
            <a:off x="800100" y="1577340"/>
            <a:ext cx="320040" cy="320040"/>
          </a:xfrm>
          <a:prstGeom prst="rect">
            <a:avLst/>
          </a:prstGeom>
        </p:spPr>
      </p:pic>
      <p:sp>
        <p:nvSpPr>
          <p:cNvPr id="7" name="Text 4"/>
          <p:cNvSpPr txBox="1"/>
          <p:nvPr/>
        </p:nvSpPr>
        <p:spPr>
          <a:xfrm>
            <a:off x="1417320" y="1417320"/>
            <a:ext cx="1463040" cy="365760"/>
          </a:xfrm>
          <a:prstGeom prst="rect">
            <a:avLst/>
          </a:prstGeom>
          <a:noFill/>
          <a:ln/>
        </p:spPr>
        <p:txBody>
          <a:bodyPr wrap="square" lIns="0" tIns="0" rIns="0" bIns="0" rtlCol="0" anchor="ctr"/>
          <a:lstStyle/>
          <a:p>
            <a:pPr indent="0" marL="0">
              <a:buNone/>
            </a:pPr>
            <a:r>
              <a:rPr lang="en-US" sz="2000" b="1" dirty="0">
                <a:solidFill>
                  <a:srgbClr val="1D1F33"/>
                </a:solidFill>
                <a:latin typeface="Cambria" pitchFamily="34" charset="0"/>
                <a:ea typeface="Cambria" pitchFamily="34" charset="-122"/>
                <a:cs typeface="Cambria" pitchFamily="34" charset="-120"/>
              </a:rPr>
              <a:t>Read</a:t>
            </a:r>
            <a:endParaRPr lang="en-US" sz="2000" dirty="0"/>
          </a:p>
        </p:txBody>
      </p:sp>
      <p:sp>
        <p:nvSpPr>
          <p:cNvPr id="8" name="Text 5"/>
          <p:cNvSpPr txBox="1"/>
          <p:nvPr/>
        </p:nvSpPr>
        <p:spPr>
          <a:xfrm>
            <a:off x="1417320" y="1783080"/>
            <a:ext cx="1508760" cy="365760"/>
          </a:xfrm>
          <a:prstGeom prst="rect">
            <a:avLst/>
          </a:prstGeom>
          <a:noFill/>
          <a:ln/>
        </p:spPr>
        <p:txBody>
          <a:bodyPr wrap="square" lIns="0" tIns="0" rIns="0" bIns="0" rtlCol="0" anchor="ctr"/>
          <a:lstStyle/>
          <a:p>
            <a:pPr indent="0" marL="0">
              <a:buNone/>
            </a:pPr>
            <a:r>
              <a:rPr lang="en-US" sz="1050" dirty="0">
                <a:solidFill>
                  <a:srgbClr val="5B5FC7"/>
                </a:solidFill>
                <a:latin typeface="Calibri" pitchFamily="34" charset="0"/>
                <a:ea typeface="Calibri" pitchFamily="34" charset="-122"/>
                <a:cs typeface="Calibri" pitchFamily="34" charset="-120"/>
              </a:rPr>
              <a:t>LLM compiler · offline, once</a:t>
            </a:r>
            <a:endParaRPr lang="en-US" sz="1050" dirty="0"/>
          </a:p>
        </p:txBody>
      </p:sp>
      <p:sp>
        <p:nvSpPr>
          <p:cNvPr id="9" name="Text 6"/>
          <p:cNvSpPr txBox="1"/>
          <p:nvPr/>
        </p:nvSpPr>
        <p:spPr>
          <a:xfrm>
            <a:off x="640080" y="2286000"/>
            <a:ext cx="2194560" cy="1280160"/>
          </a:xfrm>
          <a:prstGeom prst="rect">
            <a:avLst/>
          </a:prstGeom>
          <a:noFill/>
          <a:ln/>
        </p:spPr>
        <p:txBody>
          <a:bodyPr wrap="square" lIns="0" tIns="0" rIns="0" bIns="0" rtlCol="0" anchor="t"/>
          <a:lstStyle/>
          <a:p>
            <a:pPr indent="0" marL="0">
              <a:buNone/>
            </a:pPr>
            <a:r>
              <a:rPr lang="en-US" sz="1250" dirty="0">
                <a:solidFill>
                  <a:srgbClr val="5E6280"/>
                </a:solidFill>
                <a:latin typeface="Calibri" pitchFamily="34" charset="0"/>
                <a:ea typeface="Calibri" pitchFamily="34" charset="-122"/>
                <a:cs typeface="Calibri" pitchFamily="34" charset="-120"/>
              </a:rPr>
              <a:t>Turns the manual into a procedure spec: what must be true before each move, and what it should change.</a:t>
            </a:r>
            <a:endParaRPr lang="en-US" sz="1250" dirty="0"/>
          </a:p>
        </p:txBody>
      </p:sp>
      <p:sp>
        <p:nvSpPr>
          <p:cNvPr id="10" name="Shape 7"/>
          <p:cNvSpPr/>
          <p:nvPr/>
        </p:nvSpPr>
        <p:spPr>
          <a:xfrm>
            <a:off x="640080" y="3657600"/>
            <a:ext cx="1097280" cy="320040"/>
          </a:xfrm>
          <a:prstGeom prst="roundRect">
            <a:avLst>
              <a:gd name="adj" fmla="val 48571"/>
            </a:avLst>
          </a:prstGeom>
          <a:solidFill>
            <a:srgbClr val="F2A541"/>
          </a:solidFill>
          <a:ln w="12700">
            <a:solidFill>
              <a:srgbClr val="F2A541"/>
            </a:solidFill>
            <a:prstDash val="solid"/>
          </a:ln>
        </p:spPr>
      </p:sp>
      <p:sp>
        <p:nvSpPr>
          <p:cNvPr id="11" name="Text 8"/>
          <p:cNvSpPr txBox="1"/>
          <p:nvPr/>
        </p:nvSpPr>
        <p:spPr>
          <a:xfrm>
            <a:off x="640080" y="3657600"/>
            <a:ext cx="1097280" cy="320040"/>
          </a:xfrm>
          <a:prstGeom prst="rect">
            <a:avLst/>
          </a:prstGeom>
          <a:noFill/>
          <a:ln/>
        </p:spPr>
        <p:txBody>
          <a:bodyPr wrap="square" lIns="0" tIns="0" rIns="0" bIns="0" rtlCol="0" anchor="ctr"/>
          <a:lstStyle/>
          <a:p>
            <a:pPr algn="ctr" indent="0" marL="0">
              <a:buNone/>
            </a:pPr>
            <a:r>
              <a:rPr lang="en-US" sz="1100" b="1" dirty="0">
                <a:solidFill>
                  <a:srgbClr val="15172E"/>
                </a:solidFill>
                <a:latin typeface="Calibri" pitchFamily="34" charset="0"/>
                <a:ea typeface="Calibri" pitchFamily="34" charset="-122"/>
                <a:cs typeface="Calibri" pitchFamily="34" charset="-120"/>
              </a:rPr>
              <a:t>Gaps 1 &amp; 2</a:t>
            </a:r>
            <a:endParaRPr lang="en-US" sz="1100" dirty="0"/>
          </a:p>
        </p:txBody>
      </p:sp>
      <p:sp>
        <p:nvSpPr>
          <p:cNvPr id="12" name="Shape 9"/>
          <p:cNvSpPr/>
          <p:nvPr/>
        </p:nvSpPr>
        <p:spPr>
          <a:xfrm>
            <a:off x="3072384" y="2560320"/>
            <a:ext cx="182880" cy="274320"/>
          </a:xfrm>
          <a:prstGeom prst="chevron">
            <a:avLst/>
          </a:prstGeom>
          <a:solidFill>
            <a:srgbClr val="F2A541"/>
          </a:solidFill>
          <a:ln w="12700">
            <a:solidFill>
              <a:srgbClr val="F2A541"/>
            </a:solidFill>
            <a:prstDash val="solid"/>
          </a:ln>
        </p:spPr>
      </p:sp>
      <p:sp>
        <p:nvSpPr>
          <p:cNvPr id="13" name="Shape 10"/>
          <p:cNvSpPr/>
          <p:nvPr/>
        </p:nvSpPr>
        <p:spPr>
          <a:xfrm>
            <a:off x="3291840" y="1234440"/>
            <a:ext cx="2560320" cy="2926080"/>
          </a:xfrm>
          <a:prstGeom prst="roundRect">
            <a:avLst>
              <a:gd name="adj" fmla="val 2857"/>
            </a:avLst>
          </a:prstGeom>
          <a:solidFill>
            <a:srgbClr val="F1F2F8"/>
          </a:solidFill>
          <a:ln w="12700">
            <a:solidFill>
              <a:srgbClr val="F1F2F8"/>
            </a:solidFill>
            <a:prstDash val="solid"/>
          </a:ln>
        </p:spPr>
      </p:sp>
      <p:sp>
        <p:nvSpPr>
          <p:cNvPr id="14" name="Shape 11"/>
          <p:cNvSpPr/>
          <p:nvPr/>
        </p:nvSpPr>
        <p:spPr>
          <a:xfrm>
            <a:off x="3474720" y="1417320"/>
            <a:ext cx="640080" cy="640080"/>
          </a:xfrm>
          <a:prstGeom prst="ellipse">
            <a:avLst/>
          </a:prstGeom>
          <a:solidFill>
            <a:srgbClr val="15172E"/>
          </a:solidFill>
          <a:ln w="12700">
            <a:solidFill>
              <a:srgbClr val="15172E"/>
            </a:solidFill>
            <a:prstDash val="solid"/>
          </a:ln>
        </p:spPr>
      </p:sp>
      <p:pic>
        <p:nvPicPr>
          <p:cNvPr id="15" name="Image 1" descr="preencoded.png">    </p:cNvPr>
          <p:cNvPicPr>
            <a:picLocks noChangeAspect="1"/>
          </p:cNvPicPr>
          <p:nvPr/>
        </p:nvPicPr>
        <p:blipFill>
          <a:blip r:embed="rId2"/>
          <a:stretch>
            <a:fillRect/>
          </a:stretch>
        </p:blipFill>
        <p:spPr>
          <a:xfrm>
            <a:off x="3634740" y="1577340"/>
            <a:ext cx="320040" cy="320040"/>
          </a:xfrm>
          <a:prstGeom prst="rect">
            <a:avLst/>
          </a:prstGeom>
        </p:spPr>
      </p:pic>
      <p:sp>
        <p:nvSpPr>
          <p:cNvPr id="16" name="Text 12"/>
          <p:cNvSpPr txBox="1"/>
          <p:nvPr/>
        </p:nvSpPr>
        <p:spPr>
          <a:xfrm>
            <a:off x="4251960" y="1417320"/>
            <a:ext cx="1463040" cy="365760"/>
          </a:xfrm>
          <a:prstGeom prst="rect">
            <a:avLst/>
          </a:prstGeom>
          <a:noFill/>
          <a:ln/>
        </p:spPr>
        <p:txBody>
          <a:bodyPr wrap="square" lIns="0" tIns="0" rIns="0" bIns="0" rtlCol="0" anchor="ctr"/>
          <a:lstStyle/>
          <a:p>
            <a:pPr indent="0" marL="0">
              <a:buNone/>
            </a:pPr>
            <a:r>
              <a:rPr lang="en-US" sz="2000" b="1" dirty="0">
                <a:solidFill>
                  <a:srgbClr val="1D1F33"/>
                </a:solidFill>
                <a:latin typeface="Cambria" pitchFamily="34" charset="0"/>
                <a:ea typeface="Cambria" pitchFamily="34" charset="-122"/>
                <a:cs typeface="Cambria" pitchFamily="34" charset="-120"/>
              </a:rPr>
              <a:t>Watch</a:t>
            </a:r>
            <a:endParaRPr lang="en-US" sz="2000" dirty="0"/>
          </a:p>
        </p:txBody>
      </p:sp>
      <p:sp>
        <p:nvSpPr>
          <p:cNvPr id="17" name="Text 13"/>
          <p:cNvSpPr txBox="1"/>
          <p:nvPr/>
        </p:nvSpPr>
        <p:spPr>
          <a:xfrm>
            <a:off x="4251960" y="1783080"/>
            <a:ext cx="1508760" cy="365760"/>
          </a:xfrm>
          <a:prstGeom prst="rect">
            <a:avLst/>
          </a:prstGeom>
          <a:noFill/>
          <a:ln/>
        </p:spPr>
        <p:txBody>
          <a:bodyPr wrap="square" lIns="0" tIns="0" rIns="0" bIns="0" rtlCol="0" anchor="ctr"/>
          <a:lstStyle/>
          <a:p>
            <a:pPr indent="0" marL="0">
              <a:buNone/>
            </a:pPr>
            <a:r>
              <a:rPr lang="en-US" sz="1050" dirty="0">
                <a:solidFill>
                  <a:srgbClr val="5B5FC7"/>
                </a:solidFill>
                <a:latin typeface="Calibri" pitchFamily="34" charset="0"/>
                <a:ea typeface="Calibri" pitchFamily="34" charset="-122"/>
                <a:cs typeface="Calibri" pitchFamily="34" charset="-120"/>
              </a:rPr>
              <a:t>Computer vision · every frame</a:t>
            </a:r>
            <a:endParaRPr lang="en-US" sz="1050" dirty="0"/>
          </a:p>
        </p:txBody>
      </p:sp>
      <p:sp>
        <p:nvSpPr>
          <p:cNvPr id="18" name="Text 14"/>
          <p:cNvSpPr txBox="1"/>
          <p:nvPr/>
        </p:nvSpPr>
        <p:spPr>
          <a:xfrm>
            <a:off x="3474720" y="2286000"/>
            <a:ext cx="2194560" cy="1280160"/>
          </a:xfrm>
          <a:prstGeom prst="rect">
            <a:avLst/>
          </a:prstGeom>
          <a:noFill/>
          <a:ln/>
        </p:spPr>
        <p:txBody>
          <a:bodyPr wrap="square" lIns="0" tIns="0" rIns="0" bIns="0" rtlCol="0" anchor="t"/>
          <a:lstStyle/>
          <a:p>
            <a:pPr indent="0" marL="0">
              <a:buNone/>
            </a:pPr>
            <a:r>
              <a:rPr lang="en-US" sz="1250" dirty="0">
                <a:solidFill>
                  <a:srgbClr val="5E6280"/>
                </a:solidFill>
                <a:latin typeface="Calibri" pitchFamily="34" charset="0"/>
                <a:ea typeface="Calibri" pitchFamily="34" charset="-122"/>
                <a:cs typeface="Calibri" pitchFamily="34" charset="-120"/>
              </a:rPr>
              <a:t>Tracks hands and parts; keeps a live world state of jigsaw cells and Jenga slots.</a:t>
            </a:r>
            <a:endParaRPr lang="en-US" sz="1250" dirty="0"/>
          </a:p>
        </p:txBody>
      </p:sp>
      <p:sp>
        <p:nvSpPr>
          <p:cNvPr id="19" name="Shape 15"/>
          <p:cNvSpPr/>
          <p:nvPr/>
        </p:nvSpPr>
        <p:spPr>
          <a:xfrm>
            <a:off x="3474720" y="3657600"/>
            <a:ext cx="1097280" cy="320040"/>
          </a:xfrm>
          <a:prstGeom prst="roundRect">
            <a:avLst>
              <a:gd name="adj" fmla="val 48571"/>
            </a:avLst>
          </a:prstGeom>
          <a:solidFill>
            <a:srgbClr val="F2A541"/>
          </a:solidFill>
          <a:ln w="12700">
            <a:solidFill>
              <a:srgbClr val="F2A541"/>
            </a:solidFill>
            <a:prstDash val="solid"/>
          </a:ln>
        </p:spPr>
      </p:sp>
      <p:sp>
        <p:nvSpPr>
          <p:cNvPr id="20" name="Text 16"/>
          <p:cNvSpPr txBox="1"/>
          <p:nvPr/>
        </p:nvSpPr>
        <p:spPr>
          <a:xfrm>
            <a:off x="3474720" y="3657600"/>
            <a:ext cx="1097280" cy="320040"/>
          </a:xfrm>
          <a:prstGeom prst="rect">
            <a:avLst/>
          </a:prstGeom>
          <a:noFill/>
          <a:ln/>
        </p:spPr>
        <p:txBody>
          <a:bodyPr wrap="square" lIns="0" tIns="0" rIns="0" bIns="0" rtlCol="0" anchor="ctr"/>
          <a:lstStyle/>
          <a:p>
            <a:pPr algn="ctr" indent="0" marL="0">
              <a:buNone/>
            </a:pPr>
            <a:r>
              <a:rPr lang="en-US" sz="1100" b="1" dirty="0">
                <a:solidFill>
                  <a:srgbClr val="15172E"/>
                </a:solidFill>
                <a:latin typeface="Calibri" pitchFamily="34" charset="0"/>
                <a:ea typeface="Calibri" pitchFamily="34" charset="-122"/>
                <a:cs typeface="Calibri" pitchFamily="34" charset="-120"/>
              </a:rPr>
              <a:t>Gap 3</a:t>
            </a:r>
            <a:endParaRPr lang="en-US" sz="1100" dirty="0"/>
          </a:p>
        </p:txBody>
      </p:sp>
      <p:sp>
        <p:nvSpPr>
          <p:cNvPr id="21" name="Shape 17"/>
          <p:cNvSpPr/>
          <p:nvPr/>
        </p:nvSpPr>
        <p:spPr>
          <a:xfrm>
            <a:off x="5907024" y="2560320"/>
            <a:ext cx="182880" cy="274320"/>
          </a:xfrm>
          <a:prstGeom prst="chevron">
            <a:avLst/>
          </a:prstGeom>
          <a:solidFill>
            <a:srgbClr val="F2A541"/>
          </a:solidFill>
          <a:ln w="12700">
            <a:solidFill>
              <a:srgbClr val="F2A541"/>
            </a:solidFill>
            <a:prstDash val="solid"/>
          </a:ln>
        </p:spPr>
      </p:sp>
      <p:sp>
        <p:nvSpPr>
          <p:cNvPr id="22" name="Shape 18"/>
          <p:cNvSpPr/>
          <p:nvPr/>
        </p:nvSpPr>
        <p:spPr>
          <a:xfrm>
            <a:off x="6126480" y="1234440"/>
            <a:ext cx="2560320" cy="2926080"/>
          </a:xfrm>
          <a:prstGeom prst="roundRect">
            <a:avLst>
              <a:gd name="adj" fmla="val 2857"/>
            </a:avLst>
          </a:prstGeom>
          <a:solidFill>
            <a:srgbClr val="F1F2F8"/>
          </a:solidFill>
          <a:ln w="12700">
            <a:solidFill>
              <a:srgbClr val="F1F2F8"/>
            </a:solidFill>
            <a:prstDash val="solid"/>
          </a:ln>
        </p:spPr>
      </p:sp>
      <p:sp>
        <p:nvSpPr>
          <p:cNvPr id="23" name="Shape 19"/>
          <p:cNvSpPr/>
          <p:nvPr/>
        </p:nvSpPr>
        <p:spPr>
          <a:xfrm>
            <a:off x="6309360" y="1417320"/>
            <a:ext cx="640080" cy="640080"/>
          </a:xfrm>
          <a:prstGeom prst="ellipse">
            <a:avLst/>
          </a:prstGeom>
          <a:solidFill>
            <a:srgbClr val="15172E"/>
          </a:solidFill>
          <a:ln w="12700">
            <a:solidFill>
              <a:srgbClr val="15172E"/>
            </a:solidFill>
            <a:prstDash val="solid"/>
          </a:ln>
        </p:spPr>
      </p:sp>
      <p:pic>
        <p:nvPicPr>
          <p:cNvPr id="24" name="Image 2" descr="preencoded.png">    </p:cNvPr>
          <p:cNvPicPr>
            <a:picLocks noChangeAspect="1"/>
          </p:cNvPicPr>
          <p:nvPr/>
        </p:nvPicPr>
        <p:blipFill>
          <a:blip r:embed="rId3"/>
          <a:stretch>
            <a:fillRect/>
          </a:stretch>
        </p:blipFill>
        <p:spPr>
          <a:xfrm>
            <a:off x="6469380" y="1577340"/>
            <a:ext cx="320040" cy="320040"/>
          </a:xfrm>
          <a:prstGeom prst="rect">
            <a:avLst/>
          </a:prstGeom>
        </p:spPr>
      </p:pic>
      <p:sp>
        <p:nvSpPr>
          <p:cNvPr id="25" name="Text 20"/>
          <p:cNvSpPr txBox="1"/>
          <p:nvPr/>
        </p:nvSpPr>
        <p:spPr>
          <a:xfrm>
            <a:off x="7086600" y="1417320"/>
            <a:ext cx="1463040" cy="365760"/>
          </a:xfrm>
          <a:prstGeom prst="rect">
            <a:avLst/>
          </a:prstGeom>
          <a:noFill/>
          <a:ln/>
        </p:spPr>
        <p:txBody>
          <a:bodyPr wrap="square" lIns="0" tIns="0" rIns="0" bIns="0" rtlCol="0" anchor="ctr"/>
          <a:lstStyle/>
          <a:p>
            <a:pPr indent="0" marL="0">
              <a:buNone/>
            </a:pPr>
            <a:r>
              <a:rPr lang="en-US" sz="2000" b="1" dirty="0">
                <a:solidFill>
                  <a:srgbClr val="1D1F33"/>
                </a:solidFill>
                <a:latin typeface="Cambria" pitchFamily="34" charset="0"/>
                <a:ea typeface="Cambria" pitchFamily="34" charset="-122"/>
                <a:cs typeface="Cambria" pitchFamily="34" charset="-120"/>
              </a:rPr>
              <a:t>Judge</a:t>
            </a:r>
            <a:endParaRPr lang="en-US" sz="2000" dirty="0"/>
          </a:p>
        </p:txBody>
      </p:sp>
      <p:sp>
        <p:nvSpPr>
          <p:cNvPr id="26" name="Text 21"/>
          <p:cNvSpPr txBox="1"/>
          <p:nvPr/>
        </p:nvSpPr>
        <p:spPr>
          <a:xfrm>
            <a:off x="7086600" y="1783080"/>
            <a:ext cx="1508760" cy="365760"/>
          </a:xfrm>
          <a:prstGeom prst="rect">
            <a:avLst/>
          </a:prstGeom>
          <a:noFill/>
          <a:ln/>
        </p:spPr>
        <p:txBody>
          <a:bodyPr wrap="square" lIns="0" tIns="0" rIns="0" bIns="0" rtlCol="0" anchor="ctr"/>
          <a:lstStyle/>
          <a:p>
            <a:pPr indent="0" marL="0">
              <a:buNone/>
            </a:pPr>
            <a:r>
              <a:rPr lang="en-US" sz="1050" dirty="0">
                <a:solidFill>
                  <a:srgbClr val="5B5FC7"/>
                </a:solidFill>
                <a:latin typeface="Calibri" pitchFamily="34" charset="0"/>
                <a:ea typeface="Calibri" pitchFamily="34" charset="-122"/>
                <a:cs typeface="Calibri" pitchFamily="34" charset="-120"/>
              </a:rPr>
              <a:t>Deterministic checker</a:t>
            </a:r>
            <a:endParaRPr lang="en-US" sz="1050" dirty="0"/>
          </a:p>
        </p:txBody>
      </p:sp>
      <p:sp>
        <p:nvSpPr>
          <p:cNvPr id="27" name="Text 22"/>
          <p:cNvSpPr txBox="1"/>
          <p:nvPr/>
        </p:nvSpPr>
        <p:spPr>
          <a:xfrm>
            <a:off x="6309360" y="2286000"/>
            <a:ext cx="2194560" cy="1280160"/>
          </a:xfrm>
          <a:prstGeom prst="rect">
            <a:avLst/>
          </a:prstGeom>
          <a:noFill/>
          <a:ln/>
        </p:spPr>
        <p:txBody>
          <a:bodyPr wrap="square" lIns="0" tIns="0" rIns="0" bIns="0" rtlCol="0" anchor="t"/>
          <a:lstStyle/>
          <a:p>
            <a:pPr indent="0" marL="0">
              <a:buNone/>
            </a:pPr>
            <a:r>
              <a:rPr lang="en-US" sz="1250" dirty="0">
                <a:solidFill>
                  <a:srgbClr val="5E6280"/>
                </a:solidFill>
                <a:latin typeface="Calibri" pitchFamily="34" charset="0"/>
                <a:ea typeface="Calibri" pitchFamily="34" charset="-122"/>
                <a:cs typeface="Calibri" pitchFamily="34" charset="-120"/>
              </a:rPr>
              <a:t>Compares state to spec. Every alert names its rule; a blocked view means wait, not guess.</a:t>
            </a:r>
            <a:endParaRPr lang="en-US" sz="1250" dirty="0"/>
          </a:p>
        </p:txBody>
      </p:sp>
      <p:sp>
        <p:nvSpPr>
          <p:cNvPr id="28" name="Shape 23"/>
          <p:cNvSpPr/>
          <p:nvPr/>
        </p:nvSpPr>
        <p:spPr>
          <a:xfrm>
            <a:off x="6309360" y="3657600"/>
            <a:ext cx="1097280" cy="320040"/>
          </a:xfrm>
          <a:prstGeom prst="roundRect">
            <a:avLst>
              <a:gd name="adj" fmla="val 48571"/>
            </a:avLst>
          </a:prstGeom>
          <a:solidFill>
            <a:srgbClr val="F2A541"/>
          </a:solidFill>
          <a:ln w="12700">
            <a:solidFill>
              <a:srgbClr val="F2A541"/>
            </a:solidFill>
            <a:prstDash val="solid"/>
          </a:ln>
        </p:spPr>
      </p:sp>
      <p:sp>
        <p:nvSpPr>
          <p:cNvPr id="29" name="Text 24"/>
          <p:cNvSpPr txBox="1"/>
          <p:nvPr/>
        </p:nvSpPr>
        <p:spPr>
          <a:xfrm>
            <a:off x="6309360" y="3657600"/>
            <a:ext cx="1097280" cy="320040"/>
          </a:xfrm>
          <a:prstGeom prst="rect">
            <a:avLst/>
          </a:prstGeom>
          <a:noFill/>
          <a:ln/>
        </p:spPr>
        <p:txBody>
          <a:bodyPr wrap="square" lIns="0" tIns="0" rIns="0" bIns="0" rtlCol="0" anchor="ctr"/>
          <a:lstStyle/>
          <a:p>
            <a:pPr algn="ctr" indent="0" marL="0">
              <a:buNone/>
            </a:pPr>
            <a:r>
              <a:rPr lang="en-US" sz="1100" b="1" dirty="0">
                <a:solidFill>
                  <a:srgbClr val="15172E"/>
                </a:solidFill>
                <a:latin typeface="Calibri" pitchFamily="34" charset="0"/>
                <a:ea typeface="Calibri" pitchFamily="34" charset="-122"/>
                <a:cs typeface="Calibri" pitchFamily="34" charset="-120"/>
              </a:rPr>
              <a:t>Gap 4</a:t>
            </a:r>
            <a:endParaRPr lang="en-US" sz="1100" dirty="0"/>
          </a:p>
        </p:txBody>
      </p:sp>
      <p:sp>
        <p:nvSpPr>
          <p:cNvPr id="30" name="Text 25"/>
          <p:cNvSpPr txBox="1"/>
          <p:nvPr/>
        </p:nvSpPr>
        <p:spPr>
          <a:xfrm>
            <a:off x="457200" y="4343400"/>
            <a:ext cx="8229600" cy="274320"/>
          </a:xfrm>
          <a:prstGeom prst="rect">
            <a:avLst/>
          </a:prstGeom>
          <a:noFill/>
          <a:ln/>
        </p:spPr>
        <p:txBody>
          <a:bodyPr wrap="square" lIns="0" tIns="0" rIns="0" bIns="0" rtlCol="0" anchor="ctr"/>
          <a:lstStyle/>
          <a:p>
            <a:pPr indent="0" marL="0">
              <a:buNone/>
            </a:pPr>
            <a:r>
              <a:rPr lang="en-US" sz="1250" i="1" dirty="0">
                <a:solidFill>
                  <a:srgbClr val="5E6280"/>
                </a:solidFill>
                <a:latin typeface="Calibri" pitchFamily="34" charset="0"/>
                <a:ea typeface="Calibri" pitchFamily="34" charset="-122"/>
                <a:cs typeface="Calibri" pitchFamily="34" charset="-120"/>
              </a:rPr>
              <a:t>The LLM only reads text. It never sees video, and it never raises an alert.</a:t>
            </a:r>
            <a:endParaRPr lang="en-US" sz="1250" dirty="0"/>
          </a:p>
        </p:txBody>
      </p:sp>
      <p:sp>
        <p:nvSpPr>
          <p:cNvPr id="31" name="Text 26"/>
          <p:cNvSpPr txBox="1"/>
          <p:nvPr/>
        </p:nvSpPr>
        <p:spPr>
          <a:xfrm>
            <a:off x="6400800" y="4754880"/>
            <a:ext cx="2286000" cy="228600"/>
          </a:xfrm>
          <a:prstGeom prst="rect">
            <a:avLst/>
          </a:prstGeom>
          <a:noFill/>
          <a:ln/>
        </p:spPr>
        <p:txBody>
          <a:bodyPr wrap="square" lIns="0" tIns="0" rIns="0" bIns="0" rtlCol="0" anchor="ctr"/>
          <a:lstStyle/>
          <a:p>
            <a:pPr algn="r" indent="0" marL="0">
              <a:buNone/>
            </a:pPr>
            <a:r>
              <a:rPr lang="en-US" sz="1000" i="1" dirty="0">
                <a:solidFill>
                  <a:srgbClr val="5E6280"/>
                </a:solidFill>
                <a:latin typeface="Calibri" pitchFamily="34" charset="0"/>
                <a:ea typeface="Calibri" pitchFamily="34" charset="-122"/>
                <a:cs typeface="Calibri" pitchFamily="34" charset="-120"/>
              </a:rPr>
              <a:t>Aadit Pani</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28600"/>
          </a:xfrm>
          <a:prstGeom prst="rect">
            <a:avLst/>
          </a:prstGeom>
          <a:noFill/>
          <a:ln/>
        </p:spPr>
        <p:txBody>
          <a:bodyPr wrap="square" lIns="0" tIns="0" rIns="0" bIns="0" rtlCol="0" anchor="ctr"/>
          <a:lstStyle/>
          <a:p>
            <a:pPr indent="0" marL="0">
              <a:buNone/>
            </a:pPr>
            <a:r>
              <a:rPr lang="en-US" sz="1100" b="1" spc="200" kern="0" dirty="0">
                <a:solidFill>
                  <a:srgbClr val="5B5FC7"/>
                </a:solidFill>
                <a:latin typeface="Calibri" pitchFamily="34" charset="0"/>
                <a:ea typeface="Calibri" pitchFamily="34" charset="-122"/>
                <a:cs typeface="Calibri" pitchFamily="34" charset="-120"/>
              </a:rPr>
              <a:t>PROBLEM STATEMENT</a:t>
            </a:r>
            <a:endParaRPr lang="en-US" sz="1100" dirty="0"/>
          </a:p>
        </p:txBody>
      </p:sp>
      <p:sp>
        <p:nvSpPr>
          <p:cNvPr id="3" name="Text 1"/>
          <p:cNvSpPr txBox="1"/>
          <p:nvPr/>
        </p:nvSpPr>
        <p:spPr>
          <a:xfrm>
            <a:off x="457200" y="502920"/>
            <a:ext cx="8229600" cy="594360"/>
          </a:xfrm>
          <a:prstGeom prst="rect">
            <a:avLst/>
          </a:prstGeom>
          <a:noFill/>
          <a:ln/>
        </p:spPr>
        <p:txBody>
          <a:bodyPr wrap="square" lIns="0" tIns="0" rIns="0" bIns="0" rtlCol="0" anchor="ctr"/>
          <a:lstStyle/>
          <a:p>
            <a:pPr indent="0" marL="0">
              <a:buNone/>
            </a:pPr>
            <a:r>
              <a:rPr lang="en-US" sz="3000" b="1" dirty="0">
                <a:solidFill>
                  <a:srgbClr val="15172E"/>
                </a:solidFill>
                <a:latin typeface="Cambria" pitchFamily="34" charset="0"/>
                <a:ea typeface="Cambria" pitchFamily="34" charset="-122"/>
                <a:cs typeface="Cambria" pitchFamily="34" charset="-120"/>
              </a:rPr>
              <a:t>Significance, scope and evaluation</a:t>
            </a:r>
            <a:endParaRPr lang="en-US" sz="3000" dirty="0"/>
          </a:p>
        </p:txBody>
      </p:sp>
      <p:sp>
        <p:nvSpPr>
          <p:cNvPr id="4" name="Text 2"/>
          <p:cNvSpPr txBox="1"/>
          <p:nvPr/>
        </p:nvSpPr>
        <p:spPr>
          <a:xfrm>
            <a:off x="457200" y="1143000"/>
            <a:ext cx="8229600" cy="411480"/>
          </a:xfrm>
          <a:prstGeom prst="rect">
            <a:avLst/>
          </a:prstGeom>
          <a:noFill/>
          <a:ln/>
        </p:spPr>
        <p:txBody>
          <a:bodyPr wrap="square" lIns="0" tIns="0" rIns="0" bIns="0" rtlCol="0" anchor="ctr"/>
          <a:lstStyle/>
          <a:p>
            <a:pPr indent="0" marL="0">
              <a:buNone/>
            </a:pPr>
            <a:r>
              <a:rPr lang="en-US" sz="1350" i="1" dirty="0">
                <a:solidFill>
                  <a:srgbClr val="5E6280"/>
                </a:solidFill>
                <a:latin typeface="Calibri" pitchFamily="34" charset="0"/>
                <a:ea typeface="Calibri" pitchFamily="34" charset="-122"/>
                <a:cs typeface="Calibri" pitchFamily="34" charset="-120"/>
              </a:rPr>
              <a:t>Give it a different manual, and it checks a different procedure: lab protocols, clinical checklists, assembly lines.</a:t>
            </a:r>
            <a:endParaRPr lang="en-US" sz="1350" dirty="0"/>
          </a:p>
        </p:txBody>
      </p:sp>
      <p:sp>
        <p:nvSpPr>
          <p:cNvPr id="5" name="Shape 3"/>
          <p:cNvSpPr/>
          <p:nvPr/>
        </p:nvSpPr>
        <p:spPr>
          <a:xfrm>
            <a:off x="457200" y="1691640"/>
            <a:ext cx="4023360" cy="1783080"/>
          </a:xfrm>
          <a:prstGeom prst="roundRect">
            <a:avLst>
              <a:gd name="adj" fmla="val 4103"/>
            </a:avLst>
          </a:prstGeom>
          <a:solidFill>
            <a:srgbClr val="F1F2F8"/>
          </a:solidFill>
          <a:ln w="12700">
            <a:solidFill>
              <a:srgbClr val="F1F2F8"/>
            </a:solidFill>
            <a:prstDash val="solid"/>
          </a:ln>
        </p:spPr>
      </p:sp>
      <p:sp>
        <p:nvSpPr>
          <p:cNvPr id="6" name="Shape 4"/>
          <p:cNvSpPr/>
          <p:nvPr/>
        </p:nvSpPr>
        <p:spPr>
          <a:xfrm>
            <a:off x="640080" y="1828800"/>
            <a:ext cx="411480" cy="411480"/>
          </a:xfrm>
          <a:prstGeom prst="ellipse">
            <a:avLst/>
          </a:prstGeom>
          <a:solidFill>
            <a:srgbClr val="5B5FC7"/>
          </a:solidFill>
          <a:ln w="12700">
            <a:solidFill>
              <a:srgbClr val="5B5FC7"/>
            </a:solidFill>
            <a:prstDash val="solid"/>
          </a:ln>
        </p:spPr>
      </p:sp>
      <p:pic>
        <p:nvPicPr>
          <p:cNvPr id="7" name="Image 0" descr="preencoded.png">    </p:cNvPr>
          <p:cNvPicPr>
            <a:picLocks noChangeAspect="1"/>
          </p:cNvPicPr>
          <p:nvPr/>
        </p:nvPicPr>
        <p:blipFill>
          <a:blip r:embed="rId1"/>
          <a:stretch>
            <a:fillRect/>
          </a:stretch>
        </p:blipFill>
        <p:spPr>
          <a:xfrm>
            <a:off x="742950" y="1931670"/>
            <a:ext cx="205740" cy="205740"/>
          </a:xfrm>
          <a:prstGeom prst="rect">
            <a:avLst/>
          </a:prstGeom>
        </p:spPr>
      </p:pic>
      <p:sp>
        <p:nvSpPr>
          <p:cNvPr id="8" name="Text 5"/>
          <p:cNvSpPr txBox="1"/>
          <p:nvPr/>
        </p:nvSpPr>
        <p:spPr>
          <a:xfrm>
            <a:off x="1188720" y="1828800"/>
            <a:ext cx="2743200" cy="411480"/>
          </a:xfrm>
          <a:prstGeom prst="rect">
            <a:avLst/>
          </a:prstGeom>
          <a:noFill/>
          <a:ln/>
        </p:spPr>
        <p:txBody>
          <a:bodyPr wrap="square" lIns="0" tIns="0" rIns="0" bIns="0" rtlCol="0" anchor="ctr"/>
          <a:lstStyle/>
          <a:p>
            <a:pPr indent="0" marL="0">
              <a:buNone/>
            </a:pPr>
            <a:r>
              <a:rPr lang="en-US" sz="1500" b="1" dirty="0">
                <a:solidFill>
                  <a:srgbClr val="1D1F33"/>
                </a:solidFill>
                <a:latin typeface="Calibri" pitchFamily="34" charset="0"/>
                <a:ea typeface="Calibri" pitchFamily="34" charset="-122"/>
                <a:cs typeface="Calibri" pitchFamily="34" charset="-120"/>
              </a:rPr>
              <a:t>In scope</a:t>
            </a:r>
            <a:endParaRPr lang="en-US" sz="1500" dirty="0"/>
          </a:p>
        </p:txBody>
      </p:sp>
      <p:sp>
        <p:nvSpPr>
          <p:cNvPr id="9" name="Text 6"/>
          <p:cNvSpPr txBox="1"/>
          <p:nvPr/>
        </p:nvSpPr>
        <p:spPr>
          <a:xfrm>
            <a:off x="640080" y="2331720"/>
            <a:ext cx="3657600" cy="105156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1D1F33"/>
                </a:solidFill>
                <a:latin typeface="Calibri" pitchFamily="34" charset="0"/>
                <a:ea typeface="Calibri" pitchFamily="34" charset="-122"/>
                <a:cs typeface="Calibri" pitchFamily="34" charset="-120"/>
              </a:rPr>
              <a:t>Jigsaw under one overhead webcam; pieces matched against the box picture</a:t>
            </a:r>
            <a:endParaRPr lang="en-US" sz="1200" dirty="0"/>
          </a:p>
          <a:p>
            <a:pPr marL="342900" indent="-342900">
              <a:spcAft>
                <a:spcPts val="600"/>
              </a:spcAft>
              <a:buSzPct val="100000"/>
              <a:buChar char="•"/>
            </a:pPr>
            <a:r>
              <a:rPr lang="en-US" sz="1200" dirty="0">
                <a:solidFill>
                  <a:srgbClr val="1D1F33"/>
                </a:solidFill>
                <a:latin typeface="Calibri" pitchFamily="34" charset="0"/>
                <a:ea typeface="Calibri" pitchFamily="34" charset="-122"/>
                <a:cs typeface="Calibri" pitchFamily="34" charset="-120"/>
              </a:rPr>
              <a:t>Jenga with an iPhone Pro LiDAR depth camera, since every block looks the same</a:t>
            </a:r>
            <a:endParaRPr lang="en-US" sz="1200" dirty="0"/>
          </a:p>
        </p:txBody>
      </p:sp>
      <p:sp>
        <p:nvSpPr>
          <p:cNvPr id="10" name="Shape 7"/>
          <p:cNvSpPr/>
          <p:nvPr/>
        </p:nvSpPr>
        <p:spPr>
          <a:xfrm>
            <a:off x="4663440" y="1691640"/>
            <a:ext cx="4023360" cy="1783080"/>
          </a:xfrm>
          <a:prstGeom prst="roundRect">
            <a:avLst>
              <a:gd name="adj" fmla="val 4103"/>
            </a:avLst>
          </a:prstGeom>
          <a:solidFill>
            <a:srgbClr val="F1F2F8"/>
          </a:solidFill>
          <a:ln w="12700">
            <a:solidFill>
              <a:srgbClr val="F1F2F8"/>
            </a:solidFill>
            <a:prstDash val="solid"/>
          </a:ln>
        </p:spPr>
      </p:sp>
      <p:sp>
        <p:nvSpPr>
          <p:cNvPr id="11" name="Shape 8"/>
          <p:cNvSpPr/>
          <p:nvPr/>
        </p:nvSpPr>
        <p:spPr>
          <a:xfrm>
            <a:off x="4846320" y="1828800"/>
            <a:ext cx="411480" cy="411480"/>
          </a:xfrm>
          <a:prstGeom prst="ellipse">
            <a:avLst/>
          </a:prstGeom>
          <a:solidFill>
            <a:srgbClr val="5E6280"/>
          </a:solidFill>
          <a:ln w="12700">
            <a:solidFill>
              <a:srgbClr val="5E6280"/>
            </a:solidFill>
            <a:prstDash val="solid"/>
          </a:ln>
        </p:spPr>
      </p:sp>
      <p:pic>
        <p:nvPicPr>
          <p:cNvPr id="12" name="Image 1" descr="preencoded.png">    </p:cNvPr>
          <p:cNvPicPr>
            <a:picLocks noChangeAspect="1"/>
          </p:cNvPicPr>
          <p:nvPr/>
        </p:nvPicPr>
        <p:blipFill>
          <a:blip r:embed="rId2"/>
          <a:stretch>
            <a:fillRect/>
          </a:stretch>
        </p:blipFill>
        <p:spPr>
          <a:xfrm>
            <a:off x="4949190" y="1931670"/>
            <a:ext cx="205740" cy="205740"/>
          </a:xfrm>
          <a:prstGeom prst="rect">
            <a:avLst/>
          </a:prstGeom>
        </p:spPr>
      </p:pic>
      <p:sp>
        <p:nvSpPr>
          <p:cNvPr id="13" name="Text 9"/>
          <p:cNvSpPr txBox="1"/>
          <p:nvPr/>
        </p:nvSpPr>
        <p:spPr>
          <a:xfrm>
            <a:off x="5394960" y="1828800"/>
            <a:ext cx="2743200" cy="411480"/>
          </a:xfrm>
          <a:prstGeom prst="rect">
            <a:avLst/>
          </a:prstGeom>
          <a:noFill/>
          <a:ln/>
        </p:spPr>
        <p:txBody>
          <a:bodyPr wrap="square" lIns="0" tIns="0" rIns="0" bIns="0" rtlCol="0" anchor="ctr"/>
          <a:lstStyle/>
          <a:p>
            <a:pPr indent="0" marL="0">
              <a:buNone/>
            </a:pPr>
            <a:r>
              <a:rPr lang="en-US" sz="1500" b="1" dirty="0">
                <a:solidFill>
                  <a:srgbClr val="1D1F33"/>
                </a:solidFill>
                <a:latin typeface="Calibri" pitchFamily="34" charset="0"/>
                <a:ea typeface="Calibri" pitchFamily="34" charset="-122"/>
                <a:cs typeface="Calibri" pitchFamily="34" charset="-120"/>
              </a:rPr>
              <a:t>Out of scope</a:t>
            </a:r>
            <a:endParaRPr lang="en-US" sz="1500" dirty="0"/>
          </a:p>
        </p:txBody>
      </p:sp>
      <p:sp>
        <p:nvSpPr>
          <p:cNvPr id="14" name="Text 10"/>
          <p:cNvSpPr txBox="1"/>
          <p:nvPr/>
        </p:nvSpPr>
        <p:spPr>
          <a:xfrm>
            <a:off x="4846320" y="2331720"/>
            <a:ext cx="3657600" cy="105156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1D1F33"/>
                </a:solidFill>
                <a:latin typeface="Calibri" pitchFamily="34" charset="0"/>
                <a:ea typeface="Calibri" pitchFamily="34" charset="-122"/>
                <a:cs typeface="Calibri" pitchFamily="34" charset="-120"/>
              </a:rPr>
              <a:t>Several people working at once</a:t>
            </a:r>
            <a:endParaRPr lang="en-US" sz="1200" dirty="0"/>
          </a:p>
          <a:p>
            <a:pPr marL="342900" indent="-342900">
              <a:spcAft>
                <a:spcPts val="400"/>
              </a:spcAft>
              <a:buSzPct val="100000"/>
              <a:buChar char="•"/>
            </a:pPr>
            <a:r>
              <a:rPr lang="en-US" sz="1200" dirty="0">
                <a:solidFill>
                  <a:srgbClr val="1D1F33"/>
                </a:solidFill>
                <a:latin typeface="Calibri" pitchFamily="34" charset="0"/>
                <a:ea typeface="Calibri" pitchFamily="34" charset="-122"/>
                <a:cs typeface="Calibri" pitchFamily="34" charset="-120"/>
              </a:rPr>
              <a:t>Moving, head-mounted cameras</a:t>
            </a:r>
            <a:endParaRPr lang="en-US" sz="1200" dirty="0"/>
          </a:p>
          <a:p>
            <a:pPr marL="342900" indent="-342900">
              <a:spcAft>
                <a:spcPts val="400"/>
              </a:spcAft>
              <a:buSzPct val="100000"/>
              <a:buChar char="•"/>
            </a:pPr>
            <a:r>
              <a:rPr lang="en-US" sz="1200" dirty="0">
                <a:solidFill>
                  <a:srgbClr val="1D1F33"/>
                </a:solidFill>
                <a:latin typeface="Calibri" pitchFamily="34" charset="0"/>
                <a:ea typeface="Calibri" pitchFamily="34" charset="-122"/>
                <a:cs typeface="Calibri" pitchFamily="34" charset="-120"/>
              </a:rPr>
              <a:t>Jenga physics: we check legality, not whether the tower falls</a:t>
            </a:r>
            <a:endParaRPr lang="en-US" sz="1200" dirty="0"/>
          </a:p>
        </p:txBody>
      </p:sp>
      <p:sp>
        <p:nvSpPr>
          <p:cNvPr id="15" name="Text 11"/>
          <p:cNvSpPr txBox="1"/>
          <p:nvPr/>
        </p:nvSpPr>
        <p:spPr>
          <a:xfrm>
            <a:off x="457200" y="3611880"/>
            <a:ext cx="8229600" cy="274320"/>
          </a:xfrm>
          <a:prstGeom prst="rect">
            <a:avLst/>
          </a:prstGeom>
          <a:noFill/>
          <a:ln/>
        </p:spPr>
        <p:txBody>
          <a:bodyPr wrap="square" lIns="0" tIns="0" rIns="0" bIns="0" rtlCol="0" anchor="ctr"/>
          <a:lstStyle/>
          <a:p>
            <a:pPr indent="0" marL="0">
              <a:buNone/>
            </a:pPr>
            <a:r>
              <a:rPr lang="en-US" sz="1300" b="1" dirty="0">
                <a:solidFill>
                  <a:srgbClr val="15172E"/>
                </a:solidFill>
                <a:latin typeface="Calibri" pitchFamily="34" charset="0"/>
                <a:ea typeface="Calibri" pitchFamily="34" charset="-122"/>
                <a:cs typeface="Calibri" pitchFamily="34" charset="-120"/>
              </a:rPr>
              <a:t>How we'll measure it (gap 5)</a:t>
            </a:r>
            <a:endParaRPr lang="en-US" sz="1300" dirty="0"/>
          </a:p>
        </p:txBody>
      </p:sp>
      <p:sp>
        <p:nvSpPr>
          <p:cNvPr id="16" name="Shape 12"/>
          <p:cNvSpPr/>
          <p:nvPr/>
        </p:nvSpPr>
        <p:spPr>
          <a:xfrm>
            <a:off x="457200" y="3977640"/>
            <a:ext cx="1554480" cy="640080"/>
          </a:xfrm>
          <a:prstGeom prst="roundRect">
            <a:avLst>
              <a:gd name="adj" fmla="val 11429"/>
            </a:avLst>
          </a:prstGeom>
          <a:solidFill>
            <a:srgbClr val="15172E"/>
          </a:solidFill>
          <a:ln w="12700">
            <a:solidFill>
              <a:srgbClr val="15172E"/>
            </a:solidFill>
            <a:prstDash val="solid"/>
          </a:ln>
        </p:spPr>
      </p:sp>
      <p:sp>
        <p:nvSpPr>
          <p:cNvPr id="17" name="Text 13"/>
          <p:cNvSpPr txBox="1"/>
          <p:nvPr/>
        </p:nvSpPr>
        <p:spPr>
          <a:xfrm>
            <a:off x="548640" y="3977640"/>
            <a:ext cx="1371600" cy="6400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Precision / recall per error</a:t>
            </a:r>
            <a:endParaRPr lang="en-US" sz="1100" dirty="0"/>
          </a:p>
        </p:txBody>
      </p:sp>
      <p:sp>
        <p:nvSpPr>
          <p:cNvPr id="18" name="Shape 14"/>
          <p:cNvSpPr/>
          <p:nvPr/>
        </p:nvSpPr>
        <p:spPr>
          <a:xfrm>
            <a:off x="2121408" y="3977640"/>
            <a:ext cx="1554480" cy="640080"/>
          </a:xfrm>
          <a:prstGeom prst="roundRect">
            <a:avLst>
              <a:gd name="adj" fmla="val 11429"/>
            </a:avLst>
          </a:prstGeom>
          <a:solidFill>
            <a:srgbClr val="15172E"/>
          </a:solidFill>
          <a:ln w="12700">
            <a:solidFill>
              <a:srgbClr val="15172E"/>
            </a:solidFill>
            <a:prstDash val="solid"/>
          </a:ln>
        </p:spPr>
      </p:sp>
      <p:sp>
        <p:nvSpPr>
          <p:cNvPr id="19" name="Text 15"/>
          <p:cNvSpPr txBox="1"/>
          <p:nvPr/>
        </p:nvSpPr>
        <p:spPr>
          <a:xfrm>
            <a:off x="2212848" y="3977640"/>
            <a:ext cx="1371600" cy="6400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False alerts per correct run</a:t>
            </a:r>
            <a:endParaRPr lang="en-US" sz="1100" dirty="0"/>
          </a:p>
        </p:txBody>
      </p:sp>
      <p:sp>
        <p:nvSpPr>
          <p:cNvPr id="20" name="Shape 16"/>
          <p:cNvSpPr/>
          <p:nvPr/>
        </p:nvSpPr>
        <p:spPr>
          <a:xfrm>
            <a:off x="3785616" y="3977640"/>
            <a:ext cx="1554480" cy="640080"/>
          </a:xfrm>
          <a:prstGeom prst="roundRect">
            <a:avLst>
              <a:gd name="adj" fmla="val 11429"/>
            </a:avLst>
          </a:prstGeom>
          <a:solidFill>
            <a:srgbClr val="15172E"/>
          </a:solidFill>
          <a:ln w="12700">
            <a:solidFill>
              <a:srgbClr val="15172E"/>
            </a:solidFill>
            <a:prstDash val="solid"/>
          </a:ln>
        </p:spPr>
      </p:sp>
      <p:sp>
        <p:nvSpPr>
          <p:cNvPr id="21" name="Text 17"/>
          <p:cNvSpPr txBox="1"/>
          <p:nvPr/>
        </p:nvSpPr>
        <p:spPr>
          <a:xfrm>
            <a:off x="3877056" y="3977640"/>
            <a:ext cx="1371600" cy="6400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Mistake-to-alert delay</a:t>
            </a:r>
            <a:endParaRPr lang="en-US" sz="1100" dirty="0"/>
          </a:p>
        </p:txBody>
      </p:sp>
      <p:sp>
        <p:nvSpPr>
          <p:cNvPr id="22" name="Shape 18"/>
          <p:cNvSpPr/>
          <p:nvPr/>
        </p:nvSpPr>
        <p:spPr>
          <a:xfrm>
            <a:off x="5449824" y="3977640"/>
            <a:ext cx="1554480" cy="640080"/>
          </a:xfrm>
          <a:prstGeom prst="roundRect">
            <a:avLst>
              <a:gd name="adj" fmla="val 11429"/>
            </a:avLst>
          </a:prstGeom>
          <a:solidFill>
            <a:srgbClr val="15172E"/>
          </a:solidFill>
          <a:ln w="12700">
            <a:solidFill>
              <a:srgbClr val="15172E"/>
            </a:solidFill>
            <a:prstDash val="solid"/>
          </a:ln>
        </p:spPr>
      </p:sp>
      <p:sp>
        <p:nvSpPr>
          <p:cNvPr id="23" name="Text 19"/>
          <p:cNvSpPr txBox="1"/>
          <p:nvPr/>
        </p:nvSpPr>
        <p:spPr>
          <a:xfrm>
            <a:off x="5541264" y="3977640"/>
            <a:ext cx="1371600" cy="6400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Frame rate</a:t>
            </a:r>
            <a:endParaRPr lang="en-US" sz="1100" dirty="0"/>
          </a:p>
        </p:txBody>
      </p:sp>
      <p:sp>
        <p:nvSpPr>
          <p:cNvPr id="24" name="Shape 20"/>
          <p:cNvSpPr/>
          <p:nvPr/>
        </p:nvSpPr>
        <p:spPr>
          <a:xfrm>
            <a:off x="7114032" y="3977640"/>
            <a:ext cx="1554480" cy="640080"/>
          </a:xfrm>
          <a:prstGeom prst="roundRect">
            <a:avLst>
              <a:gd name="adj" fmla="val 11429"/>
            </a:avLst>
          </a:prstGeom>
          <a:solidFill>
            <a:srgbClr val="15172E"/>
          </a:solidFill>
          <a:ln w="12700">
            <a:solidFill>
              <a:srgbClr val="15172E"/>
            </a:solidFill>
            <a:prstDash val="solid"/>
          </a:ln>
        </p:spPr>
      </p:sp>
      <p:sp>
        <p:nvSpPr>
          <p:cNvPr id="25" name="Text 21"/>
          <p:cNvSpPr txBox="1"/>
          <p:nvPr/>
        </p:nvSpPr>
        <p:spPr>
          <a:xfrm>
            <a:off x="7205472" y="3977640"/>
            <a:ext cx="1371600" cy="6400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Compiler accuracy</a:t>
            </a:r>
            <a:endParaRPr lang="en-US" sz="1100" dirty="0"/>
          </a:p>
        </p:txBody>
      </p:sp>
      <p:sp>
        <p:nvSpPr>
          <p:cNvPr id="26" name="Text 22"/>
          <p:cNvSpPr txBox="1"/>
          <p:nvPr/>
        </p:nvSpPr>
        <p:spPr>
          <a:xfrm>
            <a:off x="6400800" y="4754880"/>
            <a:ext cx="2286000" cy="228600"/>
          </a:xfrm>
          <a:prstGeom prst="rect">
            <a:avLst/>
          </a:prstGeom>
          <a:noFill/>
          <a:ln/>
        </p:spPr>
        <p:txBody>
          <a:bodyPr wrap="square" lIns="0" tIns="0" rIns="0" bIns="0" rtlCol="0" anchor="ctr"/>
          <a:lstStyle/>
          <a:p>
            <a:pPr algn="r" indent="0" marL="0">
              <a:buNone/>
            </a:pPr>
            <a:r>
              <a:rPr lang="en-US" sz="1000" i="1" dirty="0">
                <a:solidFill>
                  <a:srgbClr val="5E6280"/>
                </a:solidFill>
                <a:latin typeface="Calibri" pitchFamily="34" charset="0"/>
                <a:ea typeface="Calibri" pitchFamily="34" charset="-122"/>
                <a:cs typeface="Calibri" pitchFamily="34" charset="-120"/>
              </a:rPr>
              <a:t>Aadit Pani</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28600"/>
          </a:xfrm>
          <a:prstGeom prst="rect">
            <a:avLst/>
          </a:prstGeom>
          <a:noFill/>
          <a:ln/>
        </p:spPr>
        <p:txBody>
          <a:bodyPr wrap="square" lIns="0" tIns="0" rIns="0" bIns="0" rtlCol="0" anchor="ctr"/>
          <a:lstStyle/>
          <a:p>
            <a:pPr indent="0" marL="0">
              <a:buNone/>
            </a:pPr>
            <a:r>
              <a:rPr lang="en-US" sz="1100" b="1" spc="200" kern="0" dirty="0">
                <a:solidFill>
                  <a:srgbClr val="5B5FC7"/>
                </a:solidFill>
                <a:latin typeface="Calibri" pitchFamily="34" charset="0"/>
                <a:ea typeface="Calibri" pitchFamily="34" charset="-122"/>
                <a:cs typeface="Calibri" pitchFamily="34" charset="-120"/>
              </a:rPr>
              <a:t>18 PAPERS SURVEYED</a:t>
            </a:r>
            <a:endParaRPr lang="en-US" sz="1100" dirty="0"/>
          </a:p>
        </p:txBody>
      </p:sp>
      <p:sp>
        <p:nvSpPr>
          <p:cNvPr id="3" name="Text 1"/>
          <p:cNvSpPr txBox="1"/>
          <p:nvPr/>
        </p:nvSpPr>
        <p:spPr>
          <a:xfrm>
            <a:off x="457200" y="502920"/>
            <a:ext cx="8229600" cy="594360"/>
          </a:xfrm>
          <a:prstGeom prst="rect">
            <a:avLst/>
          </a:prstGeom>
          <a:noFill/>
          <a:ln/>
        </p:spPr>
        <p:txBody>
          <a:bodyPr wrap="square" lIns="0" tIns="0" rIns="0" bIns="0" rtlCol="0" anchor="ctr"/>
          <a:lstStyle/>
          <a:p>
            <a:pPr indent="0" marL="0">
              <a:buNone/>
            </a:pPr>
            <a:r>
              <a:rPr lang="en-US" sz="3000" b="1" dirty="0">
                <a:solidFill>
                  <a:srgbClr val="15172E"/>
                </a:solidFill>
                <a:latin typeface="Cambria" pitchFamily="34" charset="0"/>
                <a:ea typeface="Cambria" pitchFamily="34" charset="-122"/>
                <a:cs typeface="Cambria" pitchFamily="34" charset="-120"/>
              </a:rPr>
              <a:t>References</a:t>
            </a:r>
            <a:endParaRPr lang="en-US" sz="3000" dirty="0"/>
          </a:p>
        </p:txBody>
      </p:sp>
      <p:sp>
        <p:nvSpPr>
          <p:cNvPr id="4" name="Text 2"/>
          <p:cNvSpPr txBox="1"/>
          <p:nvPr/>
        </p:nvSpPr>
        <p:spPr>
          <a:xfrm>
            <a:off x="457200" y="1188720"/>
            <a:ext cx="4023360" cy="3566160"/>
          </a:xfrm>
          <a:prstGeom prst="rect">
            <a:avLst/>
          </a:prstGeom>
          <a:noFill/>
          <a:ln/>
        </p:spPr>
        <p:txBody>
          <a:bodyPr wrap="square" lIns="0" tIns="0" rIns="0" bIns="0" rtlCol="0" anchor="t"/>
          <a:lstStyle/>
          <a:p>
            <a:pPr indent="0" marL="0">
              <a:spcAft>
                <a:spcPts val="500"/>
              </a:spcAft>
              <a:buNone/>
            </a:pPr>
            <a:r>
              <a:rPr lang="en-US" sz="1000" dirty="0">
                <a:solidFill>
                  <a:srgbClr val="1D1F33"/>
                </a:solidFill>
                <a:latin typeface="Calibri" pitchFamily="34" charset="0"/>
                <a:ea typeface="Calibri" pitchFamily="34" charset="-122"/>
                <a:cs typeface="Calibri" pitchFamily="34" charset="-120"/>
              </a:rPr>
              <a:t>[1]  Sener et al. Assembly101. CVPR 2022</a:t>
            </a:r>
            <a:endParaRPr lang="en-US" sz="1000" dirty="0"/>
          </a:p>
          <a:p>
            <a:pPr indent="0" marL="0">
              <a:spcAft>
                <a:spcPts val="500"/>
              </a:spcAft>
              <a:buNone/>
            </a:pPr>
            <a:r>
              <a:rPr lang="en-US" sz="1000" dirty="0">
                <a:solidFill>
                  <a:srgbClr val="1D1F33"/>
                </a:solidFill>
                <a:latin typeface="Calibri" pitchFamily="34" charset="0"/>
                <a:ea typeface="Calibri" pitchFamily="34" charset="-122"/>
                <a:cs typeface="Calibri" pitchFamily="34" charset="-120"/>
              </a:rPr>
              <a:t>[2]  Wang et al. HoloAssist. ICCV 2023</a:t>
            </a:r>
            <a:endParaRPr lang="en-US" sz="1000" dirty="0"/>
          </a:p>
          <a:p>
            <a:pPr indent="0" marL="0">
              <a:spcAft>
                <a:spcPts val="500"/>
              </a:spcAft>
              <a:buNone/>
            </a:pPr>
            <a:r>
              <a:rPr lang="en-US" sz="1000" dirty="0">
                <a:solidFill>
                  <a:srgbClr val="1D1F33"/>
                </a:solidFill>
                <a:latin typeface="Calibri" pitchFamily="34" charset="0"/>
                <a:ea typeface="Calibri" pitchFamily="34" charset="-122"/>
                <a:cs typeface="Calibri" pitchFamily="34" charset="-120"/>
              </a:rPr>
              <a:t>[3]  Schoonbeek et al. IndustReal. WACV 2024</a:t>
            </a:r>
            <a:endParaRPr lang="en-US" sz="1000" dirty="0"/>
          </a:p>
          <a:p>
            <a:pPr indent="0" marL="0">
              <a:spcAft>
                <a:spcPts val="500"/>
              </a:spcAft>
              <a:buNone/>
            </a:pPr>
            <a:r>
              <a:rPr lang="en-US" sz="1000" dirty="0">
                <a:solidFill>
                  <a:srgbClr val="1D1F33"/>
                </a:solidFill>
                <a:latin typeface="Calibri" pitchFamily="34" charset="0"/>
                <a:ea typeface="Calibri" pitchFamily="34" charset="-122"/>
                <a:cs typeface="Calibri" pitchFamily="34" charset="-120"/>
              </a:rPr>
              <a:t>[4]  Lee et al. Error Detection in Egocentric Procedural Task Videos (EgoPER). CVPR 2024</a:t>
            </a:r>
            <a:endParaRPr lang="en-US" sz="1000" dirty="0"/>
          </a:p>
          <a:p>
            <a:pPr indent="0" marL="0">
              <a:spcAft>
                <a:spcPts val="500"/>
              </a:spcAft>
              <a:buNone/>
            </a:pPr>
            <a:r>
              <a:rPr lang="en-US" sz="1000" dirty="0">
                <a:solidFill>
                  <a:srgbClr val="1D1F33"/>
                </a:solidFill>
                <a:latin typeface="Calibri" pitchFamily="34" charset="0"/>
                <a:ea typeface="Calibri" pitchFamily="34" charset="-122"/>
                <a:cs typeface="Calibri" pitchFamily="34" charset="-120"/>
              </a:rPr>
              <a:t>[5]  Peddi et al. CaptainCook4D. NeurIPS 2024 (D&amp;B)</a:t>
            </a:r>
            <a:endParaRPr lang="en-US" sz="1000" dirty="0"/>
          </a:p>
          <a:p>
            <a:pPr indent="0" marL="0">
              <a:spcAft>
                <a:spcPts val="500"/>
              </a:spcAft>
              <a:buNone/>
            </a:pPr>
            <a:r>
              <a:rPr lang="en-US" sz="1000" dirty="0">
                <a:solidFill>
                  <a:srgbClr val="1D1F33"/>
                </a:solidFill>
                <a:latin typeface="Calibri" pitchFamily="34" charset="0"/>
                <a:ea typeface="Calibri" pitchFamily="34" charset="-122"/>
                <a:cs typeface="Calibri" pitchFamily="34" charset="-120"/>
              </a:rPr>
              <a:t>[6]  Grauman et al. Ego4D: Around the World in 3,000 Hours of Egocentric Video. CVPR 2022</a:t>
            </a:r>
            <a:endParaRPr lang="en-US" sz="1000" dirty="0"/>
          </a:p>
          <a:p>
            <a:pPr indent="0" marL="0">
              <a:spcAft>
                <a:spcPts val="500"/>
              </a:spcAft>
              <a:buNone/>
            </a:pPr>
            <a:r>
              <a:rPr lang="en-US" sz="1000" dirty="0">
                <a:solidFill>
                  <a:srgbClr val="1D1F33"/>
                </a:solidFill>
                <a:latin typeface="Calibri" pitchFamily="34" charset="0"/>
                <a:ea typeface="Calibri" pitchFamily="34" charset="-122"/>
                <a:cs typeface="Calibri" pitchFamily="34" charset="-120"/>
              </a:rPr>
              <a:t>[7]  Abu Farha, Gall. MS-TCN. CVPR 2019</a:t>
            </a:r>
            <a:endParaRPr lang="en-US" sz="1000" dirty="0"/>
          </a:p>
          <a:p>
            <a:pPr indent="0" marL="0">
              <a:spcAft>
                <a:spcPts val="500"/>
              </a:spcAft>
              <a:buNone/>
            </a:pPr>
            <a:r>
              <a:rPr lang="en-US" sz="1000" dirty="0">
                <a:solidFill>
                  <a:srgbClr val="1D1F33"/>
                </a:solidFill>
                <a:latin typeface="Calibri" pitchFamily="34" charset="0"/>
                <a:ea typeface="Calibri" pitchFamily="34" charset="-122"/>
                <a:cs typeface="Calibri" pitchFamily="34" charset="-120"/>
              </a:rPr>
              <a:t>[8]  Yi, Wen, Jiang. ASFormer: Transformer for Action Segmentation. BMVC 2021</a:t>
            </a:r>
            <a:endParaRPr lang="en-US" sz="1000" dirty="0"/>
          </a:p>
          <a:p>
            <a:pPr indent="0" marL="0">
              <a:spcAft>
                <a:spcPts val="500"/>
              </a:spcAft>
              <a:buNone/>
            </a:pPr>
            <a:r>
              <a:rPr lang="en-US" sz="1000" dirty="0">
                <a:solidFill>
                  <a:srgbClr val="1D1F33"/>
                </a:solidFill>
                <a:latin typeface="Calibri" pitchFamily="34" charset="0"/>
                <a:ea typeface="Calibri" pitchFamily="34" charset="-122"/>
                <a:cs typeface="Calibri" pitchFamily="34" charset="-120"/>
              </a:rPr>
              <a:t>[9]  Zhou et al. Procedure-Aware Pretraining for Instructional Video Understanding. CVPR 2023</a:t>
            </a:r>
            <a:endParaRPr lang="en-US" sz="1000" dirty="0"/>
          </a:p>
        </p:txBody>
      </p:sp>
      <p:sp>
        <p:nvSpPr>
          <p:cNvPr id="5" name="Text 3"/>
          <p:cNvSpPr txBox="1"/>
          <p:nvPr/>
        </p:nvSpPr>
        <p:spPr>
          <a:xfrm>
            <a:off x="4663440" y="1188720"/>
            <a:ext cx="4023360" cy="3566160"/>
          </a:xfrm>
          <a:prstGeom prst="rect">
            <a:avLst/>
          </a:prstGeom>
          <a:noFill/>
          <a:ln/>
        </p:spPr>
        <p:txBody>
          <a:bodyPr wrap="square" lIns="0" tIns="0" rIns="0" bIns="0" rtlCol="0" anchor="t"/>
          <a:lstStyle/>
          <a:p>
            <a:pPr indent="0" marL="0">
              <a:spcAft>
                <a:spcPts val="500"/>
              </a:spcAft>
              <a:buNone/>
            </a:pPr>
            <a:r>
              <a:rPr lang="en-US" sz="1000" dirty="0">
                <a:solidFill>
                  <a:srgbClr val="1D1F33"/>
                </a:solidFill>
                <a:latin typeface="Calibri" pitchFamily="34" charset="0"/>
                <a:ea typeface="Calibri" pitchFamily="34" charset="-122"/>
                <a:cs typeface="Calibri" pitchFamily="34" charset="-120"/>
              </a:rPr>
              <a:t>[10]  Ashutosh et al. Video-Mined Task Graphs for Keystep Recognition. NeurIPS 2023</a:t>
            </a:r>
            <a:endParaRPr lang="en-US" sz="1000" dirty="0"/>
          </a:p>
          <a:p>
            <a:pPr indent="0" marL="0">
              <a:spcAft>
                <a:spcPts val="500"/>
              </a:spcAft>
              <a:buNone/>
            </a:pPr>
            <a:r>
              <a:rPr lang="en-US" sz="1000" dirty="0">
                <a:solidFill>
                  <a:srgbClr val="1D1F33"/>
                </a:solidFill>
                <a:latin typeface="Calibri" pitchFamily="34" charset="0"/>
                <a:ea typeface="Calibri" pitchFamily="34" charset="-122"/>
                <a:cs typeface="Calibri" pitchFamily="34" charset="-120"/>
              </a:rPr>
              <a:t>[11]  Flaborea et al. PREGO: Online Mistake Detection in Procedural Egocentric Videos. CVPR 2024</a:t>
            </a:r>
            <a:endParaRPr lang="en-US" sz="1000" dirty="0"/>
          </a:p>
          <a:p>
            <a:pPr indent="0" marL="0">
              <a:spcAft>
                <a:spcPts val="500"/>
              </a:spcAft>
              <a:buNone/>
            </a:pPr>
            <a:r>
              <a:rPr lang="en-US" sz="1000" dirty="0">
                <a:solidFill>
                  <a:srgbClr val="1D1F33"/>
                </a:solidFill>
                <a:latin typeface="Calibri" pitchFamily="34" charset="0"/>
                <a:ea typeface="Calibri" pitchFamily="34" charset="-122"/>
                <a:cs typeface="Calibri" pitchFamily="34" charset="-120"/>
              </a:rPr>
              <a:t>[12]  Seminara, Farinella, Furnari. Differentiable Task Graph Learning. NeurIPS 2024</a:t>
            </a:r>
            <a:endParaRPr lang="en-US" sz="1000" dirty="0"/>
          </a:p>
          <a:p>
            <a:pPr indent="0" marL="0">
              <a:spcAft>
                <a:spcPts val="500"/>
              </a:spcAft>
              <a:buNone/>
            </a:pPr>
            <a:r>
              <a:rPr lang="en-US" sz="1000" dirty="0">
                <a:solidFill>
                  <a:srgbClr val="1D1F33"/>
                </a:solidFill>
                <a:latin typeface="Calibri" pitchFamily="34" charset="0"/>
                <a:ea typeface="Calibri" pitchFamily="34" charset="-122"/>
                <a:cs typeface="Calibri" pitchFamily="34" charset="-120"/>
              </a:rPr>
              <a:t>[13]  Ahn et al. Do As I Can, Not As I Say (SayCan). CoRL 2022</a:t>
            </a:r>
            <a:endParaRPr lang="en-US" sz="1000" dirty="0"/>
          </a:p>
          <a:p>
            <a:pPr indent="0" marL="0">
              <a:spcAft>
                <a:spcPts val="500"/>
              </a:spcAft>
              <a:buNone/>
            </a:pPr>
            <a:r>
              <a:rPr lang="en-US" sz="1000" dirty="0">
                <a:solidFill>
                  <a:srgbClr val="1D1F33"/>
                </a:solidFill>
                <a:latin typeface="Calibri" pitchFamily="34" charset="0"/>
                <a:ea typeface="Calibri" pitchFamily="34" charset="-122"/>
                <a:cs typeface="Calibri" pitchFamily="34" charset="-120"/>
              </a:rPr>
              <a:t>[14]  Liang et al. Code as Policies. ICRA 2023</a:t>
            </a:r>
            <a:endParaRPr lang="en-US" sz="1000" dirty="0"/>
          </a:p>
          <a:p>
            <a:pPr indent="0" marL="0">
              <a:spcAft>
                <a:spcPts val="500"/>
              </a:spcAft>
              <a:buNone/>
            </a:pPr>
            <a:r>
              <a:rPr lang="en-US" sz="1000" dirty="0">
                <a:solidFill>
                  <a:srgbClr val="1D1F33"/>
                </a:solidFill>
                <a:latin typeface="Calibri" pitchFamily="34" charset="0"/>
                <a:ea typeface="Calibri" pitchFamily="34" charset="-122"/>
                <a:cs typeface="Calibri" pitchFamily="34" charset="-120"/>
              </a:rPr>
              <a:t>[15]  Garrido-Jurado et al. Fiducial Markers under Occlusion (ArUco). Pattern Recognition 2014</a:t>
            </a:r>
            <a:endParaRPr lang="en-US" sz="1000" dirty="0"/>
          </a:p>
          <a:p>
            <a:pPr indent="0" marL="0">
              <a:spcAft>
                <a:spcPts val="500"/>
              </a:spcAft>
              <a:buNone/>
            </a:pPr>
            <a:r>
              <a:rPr lang="en-US" sz="1000" dirty="0">
                <a:solidFill>
                  <a:srgbClr val="1D1F33"/>
                </a:solidFill>
                <a:latin typeface="Calibri" pitchFamily="34" charset="0"/>
                <a:ea typeface="Calibri" pitchFamily="34" charset="-122"/>
                <a:cs typeface="Calibri" pitchFamily="34" charset="-120"/>
              </a:rPr>
              <a:t>[16]  Zhang et al. MediaPipe Hands: On-device Real-time Hand Tracking. CVPR-W 2020</a:t>
            </a:r>
            <a:endParaRPr lang="en-US" sz="1000" dirty="0"/>
          </a:p>
          <a:p>
            <a:pPr indent="0" marL="0">
              <a:spcAft>
                <a:spcPts val="500"/>
              </a:spcAft>
              <a:buNone/>
            </a:pPr>
            <a:r>
              <a:rPr lang="en-US" sz="1000" dirty="0">
                <a:solidFill>
                  <a:srgbClr val="1D1F33"/>
                </a:solidFill>
                <a:latin typeface="Calibri" pitchFamily="34" charset="0"/>
                <a:ea typeface="Calibri" pitchFamily="34" charset="-122"/>
                <a:cs typeface="Calibri" pitchFamily="34" charset="-120"/>
              </a:rPr>
              <a:t>[17]  Cheng et al. YOLO-World: Real-Time Open-Vocabulary Object Detection. CVPR 2024</a:t>
            </a:r>
            <a:endParaRPr lang="en-US" sz="1000" dirty="0"/>
          </a:p>
          <a:p>
            <a:pPr indent="0" marL="0">
              <a:spcAft>
                <a:spcPts val="500"/>
              </a:spcAft>
              <a:buNone/>
            </a:pPr>
            <a:r>
              <a:rPr lang="en-US" sz="1000" dirty="0">
                <a:solidFill>
                  <a:srgbClr val="1D1F33"/>
                </a:solidFill>
                <a:latin typeface="Calibri" pitchFamily="34" charset="0"/>
                <a:ea typeface="Calibri" pitchFamily="34" charset="-122"/>
                <a:cs typeface="Calibri" pitchFamily="34" charset="-120"/>
              </a:rPr>
              <a:t>[18]  Gallagher. Jigsaw Puzzles with Pieces of Unknown Orientation. CVPR 2012</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5172E"/>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0" y="1188720"/>
            <a:ext cx="914400" cy="914400"/>
          </a:xfrm>
          <a:prstGeom prst="rect">
            <a:avLst/>
          </a:prstGeom>
        </p:spPr>
      </p:pic>
      <p:sp>
        <p:nvSpPr>
          <p:cNvPr id="3" name="Text 0"/>
          <p:cNvSpPr txBox="1"/>
          <p:nvPr/>
        </p:nvSpPr>
        <p:spPr>
          <a:xfrm>
            <a:off x="457200" y="2240280"/>
            <a:ext cx="8229600" cy="73152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4" name="Text 1"/>
          <p:cNvSpPr txBox="1"/>
          <p:nvPr/>
        </p:nvSpPr>
        <p:spPr>
          <a:xfrm>
            <a:off x="457200" y="3017520"/>
            <a:ext cx="8229600" cy="320040"/>
          </a:xfrm>
          <a:prstGeom prst="rect">
            <a:avLst/>
          </a:prstGeom>
          <a:noFill/>
          <a:ln/>
        </p:spPr>
        <p:txBody>
          <a:bodyPr wrap="square" lIns="0" tIns="0" rIns="0" bIns="0" rtlCol="0" anchor="ctr"/>
          <a:lstStyle/>
          <a:p>
            <a:pPr algn="ctr" indent="0" marL="0">
              <a:buNone/>
            </a:pPr>
            <a:r>
              <a:rPr lang="en-US" sz="1400" dirty="0">
                <a:solidFill>
                  <a:srgbClr val="C9CBE3"/>
                </a:solidFill>
                <a:latin typeface="Calibri" pitchFamily="34" charset="0"/>
                <a:ea typeface="Calibri" pitchFamily="34" charset="-122"/>
                <a:cs typeface="Calibri" pitchFamily="34" charset="-120"/>
              </a:rPr>
              <a:t>Third Eye · Aadit Pani · Megh Mavani · Mitul KM</a:t>
            </a:r>
            <a:endParaRPr lang="en-US" sz="1400" dirty="0"/>
          </a:p>
        </p:txBody>
      </p:sp>
      <p:sp>
        <p:nvSpPr>
          <p:cNvPr id="5" name="Text 2"/>
          <p:cNvSpPr txBox="1"/>
          <p:nvPr/>
        </p:nvSpPr>
        <p:spPr>
          <a:xfrm>
            <a:off x="457200" y="3383280"/>
            <a:ext cx="8229600" cy="274320"/>
          </a:xfrm>
          <a:prstGeom prst="rect">
            <a:avLst/>
          </a:prstGeom>
          <a:noFill/>
          <a:ln/>
        </p:spPr>
        <p:txBody>
          <a:bodyPr wrap="square" lIns="0" tIns="0" rIns="0" bIns="0" rtlCol="0" anchor="ctr"/>
          <a:lstStyle/>
          <a:p>
            <a:pPr algn="ctr" indent="0" marL="0">
              <a:buNone/>
            </a:pPr>
            <a:r>
              <a:rPr lang="en-US" sz="1200" dirty="0">
                <a:solidFill>
                  <a:srgbClr val="F2A541"/>
                </a:solidFill>
                <a:latin typeface="Calibri" pitchFamily="34" charset="0"/>
                <a:ea typeface="Calibri" pitchFamily="34" charset="-122"/>
                <a:cs typeface="Calibri" pitchFamily="34" charset="-120"/>
              </a:rPr>
              <a:t>Mentor: Prof. Manjul K Gupta</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Third Eye: Mid Review</dc:title>
  <dc:subject>PptxGenJS Presentation</dc:subject>
  <dc:creator>PptxGenJS</dc:creator>
  <cp:lastModifiedBy>PptxGenJS</cp:lastModifiedBy>
  <cp:revision>1</cp:revision>
  <dcterms:created xsi:type="dcterms:W3CDTF">2026-09-27T11:32:36Z</dcterms:created>
  <dcterms:modified xsi:type="dcterms:W3CDTF">2026-09-27T11:32:36Z</dcterms:modified>
</cp:coreProperties>
</file>